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76"/>
  </p:normalViewPr>
  <p:slideViewPr>
    <p:cSldViewPr snapToGrid="0">
      <p:cViewPr varScale="1">
        <p:scale>
          <a:sx n="146" d="100"/>
          <a:sy n="146"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ardo Celati" userId="c783acf2-b857-4341-9829-fd078dc6b3b9" providerId="ADAL" clId="{45C5E287-5D1D-5E7A-B5F8-1B531692B6C9}"/>
    <pc:docChg chg="modSld">
      <pc:chgData name="Leonardo Celati" userId="c783acf2-b857-4341-9829-fd078dc6b3b9" providerId="ADAL" clId="{45C5E287-5D1D-5E7A-B5F8-1B531692B6C9}" dt="2026-08-20T07:07:03.909" v="38" actId="20577"/>
      <pc:docMkLst>
        <pc:docMk/>
      </pc:docMkLst>
      <pc:sldChg chg="modSp mod">
        <pc:chgData name="Leonardo Celati" userId="c783acf2-b857-4341-9829-fd078dc6b3b9" providerId="ADAL" clId="{45C5E287-5D1D-5E7A-B5F8-1B531692B6C9}" dt="2026-08-20T07:05:05.110" v="4" actId="20577"/>
        <pc:sldMkLst>
          <pc:docMk/>
          <pc:sldMk cId="216791908" sldId="263"/>
        </pc:sldMkLst>
        <pc:graphicFrameChg chg="modGraphic">
          <ac:chgData name="Leonardo Celati" userId="c783acf2-b857-4341-9829-fd078dc6b3b9" providerId="ADAL" clId="{45C5E287-5D1D-5E7A-B5F8-1B531692B6C9}" dt="2026-08-20T07:05:05.110" v="4" actId="20577"/>
          <ac:graphicFrameMkLst>
            <pc:docMk/>
            <pc:sldMk cId="216791908" sldId="263"/>
            <ac:graphicFrameMk id="104" creationId="{00000000-0000-0000-0000-000000000000}"/>
          </ac:graphicFrameMkLst>
        </pc:graphicFrameChg>
      </pc:sldChg>
      <pc:sldChg chg="modSp mod">
        <pc:chgData name="Leonardo Celati" userId="c783acf2-b857-4341-9829-fd078dc6b3b9" providerId="ADAL" clId="{45C5E287-5D1D-5E7A-B5F8-1B531692B6C9}" dt="2026-08-20T07:07:03.909" v="38" actId="20577"/>
        <pc:sldMkLst>
          <pc:docMk/>
          <pc:sldMk cId="2681945374" sldId="265"/>
        </pc:sldMkLst>
        <pc:spChg chg="mod">
          <ac:chgData name="Leonardo Celati" userId="c783acf2-b857-4341-9829-fd078dc6b3b9" providerId="ADAL" clId="{45C5E287-5D1D-5E7A-B5F8-1B531692B6C9}" dt="2026-08-20T07:07:03.909" v="38" actId="20577"/>
          <ac:spMkLst>
            <pc:docMk/>
            <pc:sldMk cId="2681945374" sldId="265"/>
            <ac:spMk id="2" creationId="{4AFD31DD-564F-26B2-220D-57B789C84B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ML-2025-PRJ-Slides-Demo-v0.1.pptx (layout and reporting requirements)</a:t>
            </a:r>
          </a:p>
          <a:p>
            <a:pPr marL="0" lvl="0" indent="0" algn="l">
              <a:lnSpc>
                <a:spcPct val="100000"/>
              </a:lnSpc>
              <a:spcBef>
                <a:spcPts val="0"/>
              </a:spcBef>
              <a:spcAft>
                <a:spcPts val="0"/>
              </a:spcAft>
              <a:buSzPts val="1100"/>
              <a:buNone/>
            </a:pPr>
            <a:r>
              <a:t>- Local project notebooks listed in 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monk_SVM.ipynb; monk_KNN.ipynb; monk_NN_1.ipynb; monk_NN_2.ipynb; monk_NN_3.ipynb</a:t>
            </a:r>
          </a:p>
          <a:p>
            <a:pPr marL="0" lvl="0" indent="0" algn="l">
              <a:lnSpc>
                <a:spcPct val="100000"/>
              </a:lnSpc>
              <a:spcBef>
                <a:spcPts val="0"/>
              </a:spcBef>
              <a:spcAft>
                <a:spcPts val="0"/>
              </a:spcAft>
              <a:buSzPts val="1100"/>
              <a:buNone/>
            </a:pPr>
            <a:r>
              <a:t>- cup_KNN.ipynb; cup_SVM.ipynb; cup_NN_manual.ipynb; cup_Ensemble.ipynb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 experiment notebooks</a:t>
            </a:r>
          </a:p>
          <a:p>
            <a:pPr marL="0" lvl="0" indent="0" algn="l">
              <a:lnSpc>
                <a:spcPct val="100000"/>
              </a:lnSpc>
              <a:spcBef>
                <a:spcPts val="0"/>
              </a:spcBef>
              <a:spcAft>
                <a:spcPts val="0"/>
              </a:spcAft>
              <a:buSzPts val="1100"/>
              <a:buNone/>
            </a:pPr>
            <a:r>
              <a:t>- cup_Ensemble.ipynb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cup_common.py (deterministic 400/100 split)</a:t>
            </a:r>
          </a:p>
          <a:p>
            <a:pPr marL="0" lvl="0" indent="0" algn="l">
              <a:lnSpc>
                <a:spcPct val="100000"/>
              </a:lnSpc>
              <a:spcBef>
                <a:spcPts val="0"/>
              </a:spcBef>
              <a:spcAft>
                <a:spcPts val="0"/>
              </a:spcAft>
              <a:buSzPts val="1100"/>
              <a:buNone/>
            </a:pPr>
            <a:r>
              <a:t>- cup_Ensemble.ipynb (development-only OOF selection; internal evaluation; 500-row refit)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cup_common.py (deterministic 400/100 split)</a:t>
            </a:r>
          </a:p>
          <a:p>
            <a:pPr marL="0" lvl="0" indent="0" algn="l">
              <a:lnSpc>
                <a:spcPct val="100000"/>
              </a:lnSpc>
              <a:spcBef>
                <a:spcPts val="0"/>
              </a:spcBef>
              <a:spcAft>
                <a:spcPts val="0"/>
              </a:spcAft>
              <a:buSzPts val="1100"/>
              <a:buNone/>
            </a:pPr>
            <a:r>
              <a:t>- cup_Ensemble.ipynb (development-only OOF selection; internal evaluation; 500-row refit)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monk_KNN.ipynb</a:t>
            </a:r>
          </a:p>
          <a:p>
            <a:pPr marL="0" lvl="0" indent="0" algn="l">
              <a:lnSpc>
                <a:spcPct val="100000"/>
              </a:lnSpc>
              <a:spcBef>
                <a:spcPts val="0"/>
              </a:spcBef>
              <a:spcAft>
                <a:spcPts val="0"/>
              </a:spcAft>
              <a:buSzPts val="1100"/>
              <a:buNone/>
            </a:pPr>
            <a:r>
              <a:t>- MSE and accuracy recomputed from the final fitted models on the original MONK TR/TS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monk_SVM.ipynb</a:t>
            </a:r>
          </a:p>
          <a:p>
            <a:pPr marL="0" lvl="0" indent="0" algn="l">
              <a:lnSpc>
                <a:spcPct val="100000"/>
              </a:lnSpc>
              <a:spcBef>
                <a:spcPts val="0"/>
              </a:spcBef>
              <a:spcAft>
                <a:spcPts val="0"/>
              </a:spcAft>
              <a:buSzPts val="1100"/>
              <a:buNone/>
            </a:pPr>
            <a:r>
              <a:t>- MSE and accuracy recomputed from the final fitted models on the original MONK TR/TS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monk_NN_1.ipynb</a:t>
            </a:r>
          </a:p>
          <a:p>
            <a:pPr marL="0" lvl="0" indent="0" algn="l">
              <a:lnSpc>
                <a:spcPct val="100000"/>
              </a:lnSpc>
              <a:spcBef>
                <a:spcPts val="0"/>
              </a:spcBef>
              <a:spcAft>
                <a:spcPts val="0"/>
              </a:spcAft>
              <a:buSzPts val="1100"/>
              <a:buNone/>
            </a:pPr>
            <a:r>
              <a:t>- monk_NN_2.ipynb</a:t>
            </a:r>
          </a:p>
          <a:p>
            <a:pPr marL="0" lvl="0" indent="0" algn="l">
              <a:lnSpc>
                <a:spcPct val="100000"/>
              </a:lnSpc>
              <a:spcBef>
                <a:spcPts val="0"/>
              </a:spcBef>
              <a:spcAft>
                <a:spcPts val="0"/>
              </a:spcAft>
              <a:buSzPts val="1100"/>
              <a:buNone/>
            </a:pPr>
            <a:r>
              <a:t>- monk_NN_3.ipynb</a:t>
            </a:r>
          </a:p>
          <a:p>
            <a:pPr marL="0" lvl="0" indent="0" algn="l">
              <a:lnSpc>
                <a:spcPct val="100000"/>
              </a:lnSpc>
              <a:spcBef>
                <a:spcPts val="0"/>
              </a:spcBef>
              <a:spcAft>
                <a:spcPts val="0"/>
              </a:spcAft>
              <a:buSzPts val="1100"/>
              <a:buNone/>
            </a:pPr>
            <a:r>
              <a:t>- Regularized TR/TS MSE and accuracy were recomputed from the final full-training models.</a:t>
            </a:r>
          </a:p>
          <a:p>
            <a:pPr marL="0" lvl="0" indent="0" algn="l">
              <a:lnSpc>
                <a:spcPct val="100000"/>
              </a:lnSpc>
              <a:spcBef>
                <a:spcPts val="0"/>
              </a:spcBef>
              <a:spcAft>
                <a:spcPts val="0"/>
              </a:spcAft>
              <a:buSzPts val="1100"/>
              <a:buNone/>
            </a:pPr>
            <a:r>
              <a:t>- The unregularized MONK-3 run is a hold-out diagnostic; its notebook reports test accuracy rounded to 95% and does not report final test MSE.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monk_NN_1.ipynb</a:t>
            </a:r>
          </a:p>
          <a:p>
            <a:pPr marL="0" lvl="0" indent="0" algn="l">
              <a:lnSpc>
                <a:spcPct val="100000"/>
              </a:lnSpc>
              <a:spcBef>
                <a:spcPts val="0"/>
              </a:spcBef>
              <a:spcAft>
                <a:spcPts val="0"/>
              </a:spcAft>
              <a:buSzPts val="1100"/>
              <a:buNone/>
            </a:pPr>
            <a:r>
              <a:t>- Learning curves and reported final test accuracy are taken from the executed notebook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monk_NN_3.ipynb</a:t>
            </a:r>
          </a:p>
          <a:p>
            <a:pPr marL="0" lvl="0" indent="0" algn="l">
              <a:lnSpc>
                <a:spcPct val="100000"/>
              </a:lnSpc>
              <a:spcBef>
                <a:spcPts val="0"/>
              </a:spcBef>
              <a:spcAft>
                <a:spcPts val="0"/>
              </a:spcAft>
              <a:buSzPts val="1100"/>
              <a:buNone/>
            </a:pPr>
            <a:r>
              <a:t>- Learning curves and reported final test accuracy are taken from the executed notebook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cup_Ensemble.ipynb</a:t>
            </a:r>
          </a:p>
          <a:p>
            <a:pPr marL="0" lvl="0" indent="0" algn="l">
              <a:lnSpc>
                <a:spcPct val="100000"/>
              </a:lnSpc>
              <a:spcBef>
                <a:spcPts val="0"/>
              </a:spcBef>
              <a:spcAft>
                <a:spcPts val="0"/>
              </a:spcAft>
              <a:buSzPts val="1100"/>
              <a:buNone/>
            </a:pPr>
            <a:r>
              <a:t>- cross_common.py</a:t>
            </a:r>
          </a:p>
          <a:p>
            <a:pPr marL="0" lvl="0" indent="0" algn="l">
              <a:lnSpc>
                <a:spcPct val="100000"/>
              </a:lnSpc>
              <a:spcBef>
                <a:spcPts val="0"/>
              </a:spcBef>
              <a:spcAft>
                <a:spcPts val="0"/>
              </a:spcAft>
              <a:buSzPts val="1100"/>
              <a:buNone/>
            </a:pPr>
            <a:r>
              <a:t>- nn_common.py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cup_KNN.ipynb: 80 configurations; k=1..39 odd, p in {1,2}, uniform weights, StandardScaler/RobustScaler.</a:t>
            </a:r>
          </a:p>
          <a:p>
            <a:pPr marL="0" lvl="0" indent="0" algn="l">
              <a:lnSpc>
                <a:spcPct val="100000"/>
              </a:lnSpc>
              <a:spcBef>
                <a:spcPts val="0"/>
              </a:spcBef>
              <a:spcAft>
                <a:spcPts val="0"/>
              </a:spcAft>
              <a:buSzPts val="1100"/>
              <a:buNone/>
            </a:pPr>
            <a:r>
              <a:t>- cup_SVM.ipynb: 348 configurations across custom-RBF, RBF and polynomial grids.</a:t>
            </a:r>
          </a:p>
          <a:p>
            <a:pPr marL="0" lvl="0" indent="0" algn="l">
              <a:lnSpc>
                <a:spcPct val="100000"/>
              </a:lnSpc>
              <a:spcBef>
                <a:spcPts val="0"/>
              </a:spcBef>
              <a:spcAft>
                <a:spcPts val="0"/>
              </a:spcAft>
              <a:buSzPts val="1100"/>
              <a:buNone/>
            </a:pPr>
            <a:r>
              <a:t>- cup_LinearSVR.ipynb: 24 configurations across C, loss and dual settings.</a:t>
            </a:r>
          </a:p>
          <a:p>
            <a:pPr marL="0" lvl="0" indent="0" algn="l">
              <a:lnSpc>
                <a:spcPct val="100000"/>
              </a:lnSpc>
              <a:spcBef>
                <a:spcPts val="0"/>
              </a:spcBef>
              <a:spcAft>
                <a:spcPts val="0"/>
              </a:spcAft>
              <a:buSzPts val="1100"/>
              <a:buNone/>
            </a:pPr>
            <a:r>
              <a:t>- cup_NN_optuna.ipynb: sequential studies of 20 coarse-LR, 30 fine-LR, 20 batch-size, 20 coarse-weight-decay, 30 fine-weight-decay and 40 architecture trials (160 calls in total). The notebook defines a 35-trial fine-weight-decay variable, but its optimize call uses the 30-trial fine-grained variable; this slide reports the actual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cup_NN_optuna.ipynb: three complete Optuna runs with TRAINING_SEED values 1, 10 and 20; OPTUNA_SEED=1 and CV_RANDOM_STATE=42 fixed.</a:t>
            </a:r>
          </a:p>
          <a:p>
            <a:pPr marL="0" lvl="0" indent="0" algn="l">
              <a:lnSpc>
                <a:spcPct val="100000"/>
              </a:lnSpc>
              <a:spcBef>
                <a:spcPts val="0"/>
              </a:spcBef>
              <a:spcAft>
                <a:spcPts val="0"/>
              </a:spcAft>
              <a:buSzPts val="1100"/>
              <a:buNone/>
            </a:pPr>
            <a:r>
              <a:t>- Aggregate CV MEE: mean 20.9393, population standard deviation 0.465; mean TR–VL gap 5.1222.</a:t>
            </a:r>
          </a:p>
          <a:p>
            <a:pPr marL="0" lvl="0" indent="0" algn="l">
              <a:lnSpc>
                <a:spcPct val="100000"/>
              </a:lnSpc>
              <a:spcBef>
                <a:spcPts val="0"/>
              </a:spcBef>
              <a:spcAft>
                <a:spcPts val="0"/>
              </a:spcAft>
              <a:buSzPts val="1100"/>
              <a:buNone/>
            </a:pPr>
            <a:r>
              <a:t>- The internal test was not used in this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cup_NN_manual.ipynb: frozen configuration-2 run with TRAINING_SEED = 1; CV, hold-out, bootstrap OOB, final-training and internal-test outputs.</a:t>
            </a:r>
          </a:p>
          <a:p>
            <a:pPr marL="0" lvl="0" indent="0" algn="l">
              <a:lnSpc>
                <a:spcPct val="100000"/>
              </a:lnSpc>
              <a:spcBef>
                <a:spcPts val="0"/>
              </a:spcBef>
              <a:spcAft>
                <a:spcPts val="0"/>
              </a:spcAft>
              <a:buSzPts val="1100"/>
              <a:buNone/>
            </a:pPr>
            <a:r>
              <a:t>- cross_common.py / nn_common.py: project metric and training implementations.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cup_NN_manual.ipynb: CV validation MEE 20.0802 ± 0.4017; training MEE 12.7045; internal-test MEE 22.0251.</a:t>
            </a:r>
          </a:p>
          <a:p>
            <a:pPr marL="0" lvl="0" indent="0" algn="l">
              <a:lnSpc>
                <a:spcPct val="100000"/>
              </a:lnSpc>
              <a:spcBef>
                <a:spcPts val="0"/>
              </a:spcBef>
              <a:spcAft>
                <a:spcPts val="0"/>
              </a:spcAft>
              <a:buSzPts val="1100"/>
              <a:buNone/>
            </a:pPr>
            <a:r>
              <a:t>- cup_KNN.ipynb: CV validation MEE 17.1390 ± 0.2021; training MEE 13.2870; internal-test MEE 15.4430.</a:t>
            </a:r>
          </a:p>
          <a:p>
            <a:pPr marL="0" lvl="0" indent="0" algn="l">
              <a:lnSpc>
                <a:spcPct val="100000"/>
              </a:lnSpc>
              <a:spcBef>
                <a:spcPts val="0"/>
              </a:spcBef>
              <a:spcAft>
                <a:spcPts val="0"/>
              </a:spcAft>
              <a:buSzPts val="1100"/>
              <a:buNone/>
            </a:pPr>
            <a:r>
              <a:t>- cup_SVM.ipynb: CV validation MEE 17.6784 ± 0.6903; training MEE 0.2599; internal-test MEE 18.1632.</a:t>
            </a:r>
          </a:p>
          <a:p>
            <a:pPr marL="0" lvl="0" indent="0" algn="l">
              <a:lnSpc>
                <a:spcPct val="100000"/>
              </a:lnSpc>
              <a:spcBef>
                <a:spcPts val="0"/>
              </a:spcBef>
              <a:spcAft>
                <a:spcPts val="0"/>
              </a:spcAft>
              <a:buSzPts val="1100"/>
              <a:buNone/>
            </a:pPr>
            <a:r>
              <a:t>- cup_LinearSVR.ipynb: CV validation MEE 25.1892 ± 0.8073; training MEE 24.9427; internal-test MEE 26.8403.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cup_KNN.ipynb: non-nested 5-fold OOF diagnostic metrics.</a:t>
            </a:r>
          </a:p>
          <a:p>
            <a:pPr marL="0" lvl="0" indent="0" algn="l">
              <a:lnSpc>
                <a:spcPct val="100000"/>
              </a:lnSpc>
              <a:spcBef>
                <a:spcPts val="0"/>
              </a:spcBef>
              <a:spcAft>
                <a:spcPts val="0"/>
              </a:spcAft>
              <a:buSzPts val="1100"/>
              <a:buNone/>
            </a:pPr>
            <a:r>
              <a:t>- cup_SVM.ipynb: non-nested 5-fold OOF diagnostic metrics.</a:t>
            </a:r>
          </a:p>
          <a:p>
            <a:pPr marL="0" lvl="0" indent="0" algn="l">
              <a:lnSpc>
                <a:spcPct val="100000"/>
              </a:lnSpc>
              <a:spcBef>
                <a:spcPts val="0"/>
              </a:spcBef>
              <a:spcAft>
                <a:spcPts val="0"/>
              </a:spcAft>
              <a:buSzPts val="1100"/>
              <a:buNone/>
            </a:pPr>
            <a:r>
              <a:t>- cup_NN_manual.ipynb: 5-fold OOF diagnostic metrics; R² disabled in the latest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cup_KNN.ipynb: bootstrap OOB MEE 17.66 ± 1.09; internal-test MEE 16.8191.</a:t>
            </a:r>
          </a:p>
          <a:p>
            <a:pPr marL="0" lvl="0" indent="0" algn="l">
              <a:lnSpc>
                <a:spcPct val="100000"/>
              </a:lnSpc>
              <a:spcBef>
                <a:spcPts val="0"/>
              </a:spcBef>
              <a:spcAft>
                <a:spcPts val="0"/>
              </a:spcAft>
              <a:buSzPts val="1100"/>
              <a:buNone/>
            </a:pPr>
            <a:r>
              <a:t>- cup_SVM.ipynb: bootstrap OOB MEE 18.45 ± 0.75; internal-test MEE 18.1632.</a:t>
            </a:r>
          </a:p>
          <a:p>
            <a:pPr marL="0" lvl="0" indent="0" algn="l">
              <a:lnSpc>
                <a:spcPct val="100000"/>
              </a:lnSpc>
              <a:spcBef>
                <a:spcPts val="0"/>
              </a:spcBef>
              <a:spcAft>
                <a:spcPts val="0"/>
              </a:spcAft>
              <a:buSzPts val="1100"/>
              <a:buNone/>
            </a:pPr>
            <a:r>
              <a:t>- cup_NN_manual.ipynb: bootstrap OOB MEE 22.72 ± 1.09; internal-test MEE 22.8320.</a:t>
            </a:r>
          </a:p>
          <a:p>
            <a:pPr marL="0" lvl="0" indent="0" algn="l">
              <a:lnSpc>
                <a:spcPct val="100000"/>
              </a:lnSpc>
              <a:spcBef>
                <a:spcPts val="0"/>
              </a:spcBef>
              <a:spcAft>
                <a:spcPts val="0"/>
              </a:spcAft>
              <a:buSzPts val="1100"/>
              <a:buNone/>
            </a:pPr>
            <a:r>
              <a:t>- cup_LinearSVR.ipynb: bootstrap OOB MEE 25.22 ± 0.73; internal-test MEE 26.8403.</a:t>
            </a:r>
          </a:p>
          <a:p>
            <a:pPr marL="0" lvl="0" indent="0" algn="l">
              <a:lnSpc>
                <a:spcPct val="100000"/>
              </a:lnSpc>
              <a:spcBef>
                <a:spcPts val="0"/>
              </a:spcBef>
              <a:spcAft>
                <a:spcPts val="0"/>
              </a:spcAft>
              <a:buSzPts val="1100"/>
              <a:buNone/>
            </a:pPr>
            <a:r>
              <a:t>Method: 100 bootstrap replicates with out-of-bag evaluation on the 400-case development set; all configurations were frozen.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cup_Ensemble.ipynb: final Training, OOF Validation, and Internal Test MEE 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cup_Ensemble.ipynb: OOF optimization, frozen ensemble weights, internal-test evaluation and final refit on all 500 labelled examples.</a:t>
            </a:r>
          </a:p>
          <a:p>
            <a:pPr marL="0" lvl="0" indent="0" algn="l">
              <a:lnSpc>
                <a:spcPct val="100000"/>
              </a:lnSpc>
              <a:spcBef>
                <a:spcPts val="0"/>
              </a:spcBef>
              <a:spcAft>
                <a:spcPts val="0"/>
              </a:spcAft>
              <a:buSzPts val="1100"/>
              <a:buNone/>
            </a:pPr>
            <a:r>
              <a:t>- cup_KNN.ipynb, cup_SVM.ipynb and cup_NN.ipynb: standalone model predictions used by the ensemble.</a:t>
            </a:r>
          </a:p>
          <a:p>
            <a:pPr marL="0" lvl="0" indent="0" algn="l">
              <a:lnSpc>
                <a:spcPct val="100000"/>
              </a:lnSpc>
              <a:spcBef>
                <a:spcPts val="0"/>
              </a:spcBef>
              <a:spcAft>
                <a:spcPts val="0"/>
              </a:spcAft>
              <a:buSzPts val="1100"/>
              <a:buNone/>
            </a:pPr>
            <a:r>
              <a:t>- cup_LinearSVR.ipynb: weaker standalone performance supporting its exclusion.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cup_Ensemble.ipynb</a:t>
            </a:r>
          </a:p>
          <a:p>
            <a:pPr marL="0" lvl="0" indent="0" algn="l">
              <a:lnSpc>
                <a:spcPct val="100000"/>
              </a:lnSpc>
              <a:spcBef>
                <a:spcPts val="0"/>
              </a:spcBef>
              <a:spcAft>
                <a:spcPts val="0"/>
              </a:spcAft>
              <a:buSzPts val="1100"/>
              <a:buNone/>
            </a:pPr>
            <a:r>
              <a:t>- cross_common.py</a:t>
            </a:r>
          </a:p>
          <a:p>
            <a:pPr marL="0" lvl="0" indent="0" algn="l">
              <a:lnSpc>
                <a:spcPct val="100000"/>
              </a:lnSpc>
              <a:spcBef>
                <a:spcPts val="0"/>
              </a:spcBef>
              <a:spcAft>
                <a:spcPts val="0"/>
              </a:spcAft>
              <a:buSzPts val="1100"/>
              <a:buNone/>
            </a:pPr>
            <a:r>
              <a:t>- nn_common.py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cup_Ensemble.ipynb: ensemble learning curve, OOF validation, internal-test assessment and residual-correlation analysis.</a:t>
            </a:r>
          </a:p>
          <a:p>
            <a:pPr marL="0" lvl="0" indent="0" algn="l">
              <a:lnSpc>
                <a:spcPct val="100000"/>
              </a:lnSpc>
              <a:spcBef>
                <a:spcPts val="0"/>
              </a:spcBef>
              <a:spcAft>
                <a:spcPts val="0"/>
              </a:spcAft>
              <a:buSzPts val="1100"/>
              <a:buNone/>
            </a:pPr>
            <a:r>
              <a:t>- cup_KNN.ipynb, cup_SVM.ipynb and cup_NN.ipynb: standalone evidence used to interpret ensemble complementarity.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ML-2025-PRJ-Slides-Demo-v0.1.pptx</a:t>
            </a:r>
          </a:p>
          <a:p>
            <a:pPr marL="0" lvl="0" indent="0" algn="l">
              <a:lnSpc>
                <a:spcPct val="100000"/>
              </a:lnSpc>
              <a:spcBef>
                <a:spcPts val="0"/>
              </a:spcBef>
              <a:spcAft>
                <a:spcPts val="0"/>
              </a:spcAft>
              <a:buSzPts val="1100"/>
              <a:buNone/>
            </a:pPr>
            <a:r>
              <a:t>- All local notebooks and common modules listed in source-notes.txt</a:t>
            </a:r>
          </a:p>
          <a:p>
            <a:pPr marL="0" lvl="0" indent="0" algn="l">
              <a:lnSpc>
                <a:spcPct val="100000"/>
              </a:lnSpc>
              <a:spcBef>
                <a:spcPts val="0"/>
              </a:spcBef>
              <a:spcAft>
                <a:spcPts val="0"/>
              </a:spcAft>
              <a:buSzPts val="1100"/>
              <a:buNone/>
            </a:pPr>
            <a:r>
              <a:t>- https://scikit-learn.org/stable/</a:t>
            </a:r>
          </a:p>
          <a:p>
            <a:pPr marL="0" lvl="0" indent="0" algn="l">
              <a:lnSpc>
                <a:spcPct val="100000"/>
              </a:lnSpc>
              <a:spcBef>
                <a:spcPts val="0"/>
              </a:spcBef>
              <a:spcAft>
                <a:spcPts val="0"/>
              </a:spcAft>
              <a:buSzPts val="1100"/>
              <a:buNone/>
            </a:pPr>
            <a:r>
              <a:t>- https://pytorch.org/docs/stable/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0" name="Google Shape;10;p2">
            <a:extLst>
              <a:ext uri="{FF2B5EF4-FFF2-40B4-BE49-F238E27FC236}">
                <a16:creationId xmlns:a16="http://schemas.microsoft.com/office/drawing/2014/main" id="{D77EDAF8-D45B-4908-9BE8-6D2EC3761F0A}"/>
              </a:ext>
            </a:extLst>
          </p:cNvPr>
          <p:cNvSpPr>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ormAutofit/>
          </a:bodyPr>
          <a:lstStyle>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a:endParaRPr/>
          </a:p>
        </p:txBody>
      </p:sp>
      <p:sp>
        <p:nvSpPr>
          <p:cNvPr id="11" name="Google Shape;11;p2">
            <a:extLst>
              <a:ext uri="{FF2B5EF4-FFF2-40B4-BE49-F238E27FC236}">
                <a16:creationId xmlns:a16="http://schemas.microsoft.com/office/drawing/2014/main" id="{69C146E9-9AAB-469D-B4DC-35FFA355D764}"/>
              </a:ext>
            </a:extLst>
          </p:cNvPr>
          <p:cNvSpPr>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12" name="Google Shape;12;p2">
            <a:extLst>
              <a:ext uri="{FF2B5EF4-FFF2-40B4-BE49-F238E27FC236}">
                <a16:creationId xmlns:a16="http://schemas.microsoft.com/office/drawing/2014/main" id="{3053BAEB-230D-489E-8D75-15B0D22778A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4" name="Google Shape;14;p3">
            <a:extLst>
              <a:ext uri="{FF2B5EF4-FFF2-40B4-BE49-F238E27FC236}">
                <a16:creationId xmlns:a16="http://schemas.microsoft.com/office/drawing/2014/main" id="{972064E4-187C-43AA-8513-A5AE4AE22615}"/>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a:endParaRPr/>
          </a:p>
        </p:txBody>
      </p:sp>
      <p:sp>
        <p:nvSpPr>
          <p:cNvPr id="15" name="Google Shape;15;p3">
            <a:extLst>
              <a:ext uri="{FF2B5EF4-FFF2-40B4-BE49-F238E27FC236}">
                <a16:creationId xmlns:a16="http://schemas.microsoft.com/office/drawing/2014/main" id="{B344A5CD-6367-4A23-A447-DA4B7E59C573}"/>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a:endParaRPr/>
          </a:p>
        </p:txBody>
      </p:sp>
      <p:sp>
        <p:nvSpPr>
          <p:cNvPr id="16" name="Google Shape;16;p3">
            <a:extLst>
              <a:ext uri="{FF2B5EF4-FFF2-40B4-BE49-F238E27FC236}">
                <a16:creationId xmlns:a16="http://schemas.microsoft.com/office/drawing/2014/main" id="{D3AE06C9-DA73-4DFC-AF4D-811194585506}"/>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8" name="Google Shape;18;p4">
            <a:extLst>
              <a:ext uri="{FF2B5EF4-FFF2-40B4-BE49-F238E27FC236}">
                <a16:creationId xmlns:a16="http://schemas.microsoft.com/office/drawing/2014/main" id="{1AC05AC1-4C69-4150-94E7-1FFA4A9ACEE0}"/>
              </a:ext>
            </a:extLst>
          </p:cNvPr>
          <p:cNvSpPr>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ormAutofit/>
          </a:bodyPr>
          <a:lstStyle>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a:endParaRPr/>
          </a:p>
        </p:txBody>
      </p:sp>
      <p:sp>
        <p:nvSpPr>
          <p:cNvPr id="19" name="Google Shape;19;p4">
            <a:extLst>
              <a:ext uri="{FF2B5EF4-FFF2-40B4-BE49-F238E27FC236}">
                <a16:creationId xmlns:a16="http://schemas.microsoft.com/office/drawing/2014/main" id="{15BA33DA-E2F5-4DFB-BBAB-DA6C0EDA5F0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21" name="Google Shape;21;p5">
            <a:extLst>
              <a:ext uri="{FF2B5EF4-FFF2-40B4-BE49-F238E27FC236}">
                <a16:creationId xmlns:a16="http://schemas.microsoft.com/office/drawing/2014/main" id="{32C0B497-8558-4F77-B03E-6DA14D10A55D}"/>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a:endParaRPr/>
          </a:p>
        </p:txBody>
      </p:sp>
      <p:sp>
        <p:nvSpPr>
          <p:cNvPr id="22" name="Google Shape;22;p5">
            <a:extLst>
              <a:ext uri="{FF2B5EF4-FFF2-40B4-BE49-F238E27FC236}">
                <a16:creationId xmlns:a16="http://schemas.microsoft.com/office/drawing/2014/main" id="{38C58570-5D74-4D01-B9F1-735130F2A6F3}"/>
              </a:ext>
            </a:extLst>
          </p:cNvPr>
          <p:cNvSpPr>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ormAutofit/>
          </a:bodyPr>
          <a:lstStyle>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a:endParaRPr/>
          </a:p>
        </p:txBody>
      </p:sp>
      <p:sp>
        <p:nvSpPr>
          <p:cNvPr id="23" name="Google Shape;23;p5">
            <a:extLst>
              <a:ext uri="{FF2B5EF4-FFF2-40B4-BE49-F238E27FC236}">
                <a16:creationId xmlns:a16="http://schemas.microsoft.com/office/drawing/2014/main" id="{598F4C70-6A4E-4A93-B4E1-31081123C41F}"/>
              </a:ext>
            </a:extLst>
          </p:cNvPr>
          <p:cNvSpPr>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ormAutofit/>
          </a:bodyPr>
          <a:lstStyle>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a:endParaRPr/>
          </a:p>
        </p:txBody>
      </p:sp>
      <p:sp>
        <p:nvSpPr>
          <p:cNvPr id="24" name="Google Shape;24;p5">
            <a:extLst>
              <a:ext uri="{FF2B5EF4-FFF2-40B4-BE49-F238E27FC236}">
                <a16:creationId xmlns:a16="http://schemas.microsoft.com/office/drawing/2014/main" id="{676DD6F4-BDBB-4D0B-8ED3-DD97516103B4}"/>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9212A268-7D07-415B-A778-E1BF9CA6B520}"/>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a:endParaRPr/>
          </a:p>
        </p:txBody>
      </p:sp>
      <p:sp>
        <p:nvSpPr>
          <p:cNvPr id="27" name="Google Shape;27;p6">
            <a:extLst>
              <a:ext uri="{FF2B5EF4-FFF2-40B4-BE49-F238E27FC236}">
                <a16:creationId xmlns:a16="http://schemas.microsoft.com/office/drawing/2014/main" id="{B2B48FB9-F524-4C2B-B4C7-23A03E951E17}"/>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29" name="Google Shape;29;p7">
            <a:extLst>
              <a:ext uri="{FF2B5EF4-FFF2-40B4-BE49-F238E27FC236}">
                <a16:creationId xmlns:a16="http://schemas.microsoft.com/office/drawing/2014/main" id="{72428BA6-F1AF-411A-AD9D-C16304F0A530}"/>
              </a:ext>
            </a:extLst>
          </p:cNvPr>
          <p:cNvSpPr>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ormAutofit/>
          </a:bodyPr>
          <a:lstStyle>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a:endParaRPr/>
          </a:p>
        </p:txBody>
      </p:sp>
      <p:sp>
        <p:nvSpPr>
          <p:cNvPr id="30" name="Google Shape;30;p7">
            <a:extLst>
              <a:ext uri="{FF2B5EF4-FFF2-40B4-BE49-F238E27FC236}">
                <a16:creationId xmlns:a16="http://schemas.microsoft.com/office/drawing/2014/main" id="{EF3ABFBB-5C53-42FF-A484-4BA685DE02C6}"/>
              </a:ext>
            </a:extLst>
          </p:cNvPr>
          <p:cNvSpPr>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ormAutofit/>
          </a:bodyPr>
          <a:lstStyle>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a:endParaRPr/>
          </a:p>
        </p:txBody>
      </p:sp>
      <p:sp>
        <p:nvSpPr>
          <p:cNvPr id="31" name="Google Shape;31;p7">
            <a:extLst>
              <a:ext uri="{FF2B5EF4-FFF2-40B4-BE49-F238E27FC236}">
                <a16:creationId xmlns:a16="http://schemas.microsoft.com/office/drawing/2014/main" id="{AC379DEA-3B73-4A72-85AB-571C5C7F8432}"/>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33" name="Google Shape;33;p8">
            <a:extLst>
              <a:ext uri="{FF2B5EF4-FFF2-40B4-BE49-F238E27FC236}">
                <a16:creationId xmlns:a16="http://schemas.microsoft.com/office/drawing/2014/main" id="{5B042150-85CC-45D2-BD3C-3DDA07A80A2F}"/>
              </a:ext>
            </a:extLst>
          </p:cNvPr>
          <p:cNvSpPr>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ormAutofit/>
          </a:bodyPr>
          <a:lstStyle>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a:endParaRPr/>
          </a:p>
        </p:txBody>
      </p:sp>
      <p:sp>
        <p:nvSpPr>
          <p:cNvPr id="34" name="Google Shape;34;p8">
            <a:extLst>
              <a:ext uri="{FF2B5EF4-FFF2-40B4-BE49-F238E27FC236}">
                <a16:creationId xmlns:a16="http://schemas.microsoft.com/office/drawing/2014/main" id="{14CF224A-BD5E-4C1C-93EF-7CE8BDD24D5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6" name="Google Shape;36;p9">
            <a:extLst>
              <a:ext uri="{FF2B5EF4-FFF2-40B4-BE49-F238E27FC236}">
                <a16:creationId xmlns:a16="http://schemas.microsoft.com/office/drawing/2014/main" id="{EDD907A4-FE19-4BBD-A83C-50C1152C26C8}"/>
              </a:ext>
            </a:extLst>
          </p:cNvPr>
          <p:cNvSpPr>
            <a:spLocks noGrp="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 name="Google Shape;37;p9">
            <a:extLst>
              <a:ext uri="{FF2B5EF4-FFF2-40B4-BE49-F238E27FC236}">
                <a16:creationId xmlns:a16="http://schemas.microsoft.com/office/drawing/2014/main" id="{9B84A545-9567-4A8B-833A-D3D68FFB0B07}"/>
              </a:ext>
            </a:extLst>
          </p:cNvPr>
          <p:cNvSpPr>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ormAutofit/>
          </a:bodyPr>
          <a:lstStyle>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a:endParaRPr/>
          </a:p>
        </p:txBody>
      </p:sp>
      <p:sp>
        <p:nvSpPr>
          <p:cNvPr id="38" name="Google Shape;38;p9">
            <a:extLst>
              <a:ext uri="{FF2B5EF4-FFF2-40B4-BE49-F238E27FC236}">
                <a16:creationId xmlns:a16="http://schemas.microsoft.com/office/drawing/2014/main" id="{3F1067EB-0A5F-4BF5-8EC3-A2DADDC63227}"/>
              </a:ext>
            </a:extLst>
          </p:cNvPr>
          <p:cNvSpPr>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39" name="Google Shape;39;p9">
            <a:extLst>
              <a:ext uri="{FF2B5EF4-FFF2-40B4-BE49-F238E27FC236}">
                <a16:creationId xmlns:a16="http://schemas.microsoft.com/office/drawing/2014/main" id="{E0C3C568-1FC2-4CAA-87C0-D0415F04BF74}"/>
              </a:ext>
            </a:extLst>
          </p:cNvPr>
          <p:cNvSpPr>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ormAutofit/>
          </a:bodyPr>
          <a:lstStyle>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a:endParaRPr/>
          </a:p>
        </p:txBody>
      </p:sp>
      <p:sp>
        <p:nvSpPr>
          <p:cNvPr id="40" name="Google Shape;40;p9">
            <a:extLst>
              <a:ext uri="{FF2B5EF4-FFF2-40B4-BE49-F238E27FC236}">
                <a16:creationId xmlns:a16="http://schemas.microsoft.com/office/drawing/2014/main" id="{045659A0-69EA-4421-99B1-D96AA363299C}"/>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42" name="Google Shape;42;p10">
            <a:extLst>
              <a:ext uri="{FF2B5EF4-FFF2-40B4-BE49-F238E27FC236}">
                <a16:creationId xmlns:a16="http://schemas.microsoft.com/office/drawing/2014/main" id="{F8D8B873-A738-40BC-8491-74DA7192C35B}"/>
              </a:ext>
            </a:extLst>
          </p:cNvPr>
          <p:cNvSpPr>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ormAutofit/>
          </a:bodyPr>
          <a:lstStyle>
            <a:lvl1pPr marL="457200" indent="-228600" algn="l">
              <a:lnSpc>
                <a:spcPct val="100000"/>
              </a:lnSpc>
              <a:spcBef>
                <a:spcPts val="0"/>
              </a:spcBef>
              <a:spcAft>
                <a:spcPts val="0"/>
              </a:spcAft>
              <a:buSzPts val="1800"/>
              <a:buNone/>
              <a:defRPr/>
            </a:lvl1pPr>
          </a:lstStyle>
          <a:p>
            <a:endParaRPr/>
          </a:p>
        </p:txBody>
      </p:sp>
      <p:sp>
        <p:nvSpPr>
          <p:cNvPr id="43" name="Google Shape;43;p10">
            <a:extLst>
              <a:ext uri="{FF2B5EF4-FFF2-40B4-BE49-F238E27FC236}">
                <a16:creationId xmlns:a16="http://schemas.microsoft.com/office/drawing/2014/main" id="{08A0799D-2292-4E43-A63D-C8F15A89F0CA}"/>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45" name="Google Shape;45;p11">
            <a:extLst>
              <a:ext uri="{FF2B5EF4-FFF2-40B4-BE49-F238E27FC236}">
                <a16:creationId xmlns:a16="http://schemas.microsoft.com/office/drawing/2014/main" id="{650941C2-9651-4BA8-A920-AB6C4AD0F4CE}"/>
              </a:ext>
            </a:extLst>
          </p:cNvPr>
          <p:cNvSpPr>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ormAutofit/>
          </a:bodyPr>
          <a:lstStyle>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a:r>
              <a:t>xx%</a:t>
            </a:r>
          </a:p>
        </p:txBody>
      </p:sp>
      <p:sp>
        <p:nvSpPr>
          <p:cNvPr id="46" name="Google Shape;46;p11">
            <a:extLst>
              <a:ext uri="{FF2B5EF4-FFF2-40B4-BE49-F238E27FC236}">
                <a16:creationId xmlns:a16="http://schemas.microsoft.com/office/drawing/2014/main" id="{75C181CA-5BD5-4C29-95F3-AEC787A430A4}"/>
              </a:ext>
            </a:extLst>
          </p:cNvPr>
          <p:cNvSpPr>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ormAutofit/>
          </a:bodyPr>
          <a:lstStyle>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a:endParaRPr/>
          </a:p>
        </p:txBody>
      </p:sp>
      <p:sp>
        <p:nvSpPr>
          <p:cNvPr id="47" name="Google Shape;47;p11">
            <a:extLst>
              <a:ext uri="{FF2B5EF4-FFF2-40B4-BE49-F238E27FC236}">
                <a16:creationId xmlns:a16="http://schemas.microsoft.com/office/drawing/2014/main" id="{31384A4D-6322-4258-BDD7-C7F3AF463F7C}"/>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49" name="Google Shape;49;p12">
            <a:extLst>
              <a:ext uri="{FF2B5EF4-FFF2-40B4-BE49-F238E27FC236}">
                <a16:creationId xmlns:a16="http://schemas.microsoft.com/office/drawing/2014/main" id="{1D4C456F-CD8B-4586-BB96-86C76C8909F3}"/>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90A7A1A8-E94D-4091-B001-01404478B1CB}"/>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a:endParaRPr/>
          </a:p>
        </p:txBody>
      </p:sp>
      <p:sp>
        <p:nvSpPr>
          <p:cNvPr id="7" name="Google Shape;7;p1">
            <a:extLst>
              <a:ext uri="{FF2B5EF4-FFF2-40B4-BE49-F238E27FC236}">
                <a16:creationId xmlns:a16="http://schemas.microsoft.com/office/drawing/2014/main" id="{5D6B3FFD-3FA8-45B7-B9D1-D679BB4DF8BF}"/>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a:endParaRPr/>
          </a:p>
        </p:txBody>
      </p:sp>
      <p:sp>
        <p:nvSpPr>
          <p:cNvPr id="8" name="Google Shape;8;p1">
            <a:extLst>
              <a:ext uri="{FF2B5EF4-FFF2-40B4-BE49-F238E27FC236}">
                <a16:creationId xmlns:a16="http://schemas.microsoft.com/office/drawing/2014/main" id="{EC9C426A-F826-4AA7-8097-4A0D9BCCEEA7}"/>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54;p13">
            <a:extLst>
              <a:ext uri="{FF2B5EF4-FFF2-40B4-BE49-F238E27FC236}">
                <a16:creationId xmlns:a16="http://schemas.microsoft.com/office/drawing/2014/main" id="{A78F5C84-9161-4A79-A60C-36F3E3CB5AD2}"/>
              </a:ext>
            </a:extLst>
          </p:cNvPr>
          <p:cNvSpPr>
            <a:spLocks noGrp="1"/>
          </p:cNvSpPr>
          <p:nvPr>
            <p:ph type="ctrTitle"/>
          </p:nvPr>
        </p:nvSpPr>
        <p:spPr>
          <a:xfrm>
            <a:off x="311700" y="428524"/>
            <a:ext cx="8520600" cy="2247575"/>
          </a:xfrm>
          <a:prstGeom prst="rect">
            <a:avLst/>
          </a:prstGeom>
          <a:noFill/>
          <a:ln>
            <a:noFill/>
          </a:ln>
        </p:spPr>
        <p:txBody>
          <a:bodyPr spcFirstLastPara="1" wrap="square" lIns="91425" tIns="91425" rIns="91425" bIns="91425" anchor="t">
            <a:normAutofit/>
          </a:bodyPr>
          <a:lstStyle/>
          <a:p>
            <a:pPr marL="0" lvl="0" indent="0" algn="ctr">
              <a:lnSpc>
                <a:spcPct val="100000"/>
              </a:lnSpc>
              <a:spcBef>
                <a:spcPts val="0"/>
              </a:spcBef>
              <a:spcAft>
                <a:spcPts val="0"/>
              </a:spcAft>
              <a:buSzPct val="111111"/>
              <a:buNone/>
            </a:pPr>
            <a:r>
              <a:rPr b="1"/>
              <a:t>ML 2025 Project</a:t>
            </a:r>
          </a:p>
        </p:txBody>
      </p:sp>
      <p:sp>
        <p:nvSpPr>
          <p:cNvPr id="55" name="Google Shape;55;p13">
            <a:extLst>
              <a:ext uri="{FF2B5EF4-FFF2-40B4-BE49-F238E27FC236}">
                <a16:creationId xmlns:a16="http://schemas.microsoft.com/office/drawing/2014/main" id="{367F2891-4778-459C-BD43-A4F6A3DBDDAB}"/>
              </a:ext>
            </a:extLst>
          </p:cNvPr>
          <p:cNvSpPr>
            <a:spLocks noGrp="1"/>
          </p:cNvSpPr>
          <p:nvPr>
            <p:ph type="subTitle" idx="1"/>
          </p:nvPr>
        </p:nvSpPr>
        <p:spPr>
          <a:xfrm>
            <a:off x="311700" y="2676100"/>
            <a:ext cx="8416200" cy="1477500"/>
          </a:xfrm>
          <a:prstGeom prst="rect">
            <a:avLst/>
          </a:prstGeom>
          <a:noFill/>
          <a:ln>
            <a:noFill/>
          </a:ln>
        </p:spPr>
        <p:txBody>
          <a:bodyPr spcFirstLastPara="1" wrap="square" lIns="91425" tIns="91425" rIns="91425" bIns="91425" anchor="t">
            <a:noAutofit/>
          </a:bodyPr>
          <a:lstStyle/>
          <a:p>
            <a:pPr marL="0" marR="0" lvl="0" indent="0" algn="ctr">
              <a:lnSpc>
                <a:spcPct val="80000"/>
              </a:lnSpc>
              <a:spcBef>
                <a:spcPts val="1200"/>
              </a:spcBef>
              <a:spcAft>
                <a:spcPts val="0"/>
              </a:spcAft>
              <a:buSzPts val="440"/>
              <a:buNone/>
            </a:pPr>
            <a:r>
              <a:rPr sz="1520">
                <a:solidFill>
                  <a:schemeClr val="dk1"/>
                </a:solidFill>
              </a:rPr>
              <a:t>Authors: Leonardo Celati · Damiano Degliotti · Daniele Melaccio</a:t>
            </a:r>
          </a:p>
          <a:p>
            <a:pPr marL="0" marR="0" lvl="0" indent="0" algn="ctr">
              <a:lnSpc>
                <a:spcPct val="80000"/>
              </a:lnSpc>
              <a:spcBef>
                <a:spcPts val="1200"/>
              </a:spcBef>
              <a:spcAft>
                <a:spcPts val="0"/>
              </a:spcAft>
              <a:buSzPts val="440"/>
              <a:buNone/>
            </a:pPr>
            <a:r>
              <a:rPr sz="1520">
                <a:solidFill>
                  <a:schemeClr val="dk1"/>
                </a:solidFill>
              </a:rPr>
              <a:t>Team Name: CDM25</a:t>
            </a:r>
          </a:p>
          <a:p>
            <a:pPr marL="0" marR="0" lvl="0" indent="0" algn="ctr">
              <a:lnSpc>
                <a:spcPct val="80000"/>
              </a:lnSpc>
              <a:spcBef>
                <a:spcPts val="1200"/>
              </a:spcBef>
              <a:spcAft>
                <a:spcPts val="0"/>
              </a:spcAft>
              <a:buSzPts val="440"/>
              <a:buNone/>
            </a:pPr>
            <a:r>
              <a:rPr sz="1520">
                <a:solidFill>
                  <a:schemeClr val="dk1"/>
                </a:solidFill>
              </a:rPr>
              <a:t>Master Degree: Informatica Umanistica</a:t>
            </a:r>
          </a:p>
          <a:p>
            <a:pPr marL="0" marR="0" lvl="0" indent="0" algn="ctr">
              <a:lnSpc>
                <a:spcPct val="80000"/>
              </a:lnSpc>
              <a:spcBef>
                <a:spcPts val="1200"/>
              </a:spcBef>
              <a:spcAft>
                <a:spcPts val="0"/>
              </a:spcAft>
              <a:buSzPts val="440"/>
              <a:buNone/>
            </a:pPr>
            <a:r>
              <a:rPr sz="1520">
                <a:solidFill>
                  <a:schemeClr val="dk1"/>
                </a:solidFill>
              </a:rPr>
              <a:t>Type of Project: B</a:t>
            </a:r>
            <a:endParaRPr sz="1253">
              <a:solidFill>
                <a:schemeClr val="dk1"/>
              </a:solidFill>
            </a:endParaRPr>
          </a:p>
        </p:txBody>
      </p:sp>
      <p:pic>
        <p:nvPicPr>
          <p:cNvPr id="60" name="Google Shape;56;p13"/>
          <p:cNvPicPr>
            <a:picLocks noChangeAspect="1"/>
          </p:cNvPicPr>
          <p:nvPr/>
        </p:nvPicPr>
        <p:blipFill rotWithShape="1">
          <a:blip r:embed="rId3">
            <a:alphaModFix/>
          </a:blip>
          <a:srcRect/>
          <a:stretch/>
        </p:blipFill>
        <p:spPr>
          <a:xfrm>
            <a:off x="8157525" y="51773"/>
            <a:ext cx="889425" cy="912225"/>
          </a:xfrm>
          <a:prstGeom prst="rect">
            <a:avLst/>
          </a:prstGeom>
          <a:ln>
            <a:noFill/>
          </a:ln>
        </p:spPr>
      </p:pic>
      <p:pic>
        <p:nvPicPr>
          <p:cNvPr id="61" name="Google Shape;56;p13"/>
          <p:cNvPicPr>
            <a:picLocks noChangeAspect="1"/>
          </p:cNvPicPr>
          <p:nvPr/>
        </p:nvPicPr>
        <p:blipFill rotWithShape="1">
          <a:blip r:embed="rId3">
            <a:alphaModFix/>
          </a:blip>
          <a:srcRect/>
          <a:stretch/>
        </p:blipFill>
        <p:spPr>
          <a:xfrm>
            <a:off x="8157525" y="51773"/>
            <a:ext cx="889425" cy="912225"/>
          </a:xfrm>
          <a:prstGeom prst="rect">
            <a:avLst/>
          </a:prstGeom>
          <a:ln>
            <a:noFill/>
          </a:ln>
        </p:spPr>
      </p:pic>
    </p:spTree>
    <p:extLst>
      <p:ext uri="{BB962C8B-B14F-4D97-AF65-F5344CB8AC3E}">
        <p14:creationId xmlns:p14="http://schemas.microsoft.com/office/powerpoint/2010/main" val="16130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64;p14">
            <a:extLst>
              <a:ext uri="{FF2B5EF4-FFF2-40B4-BE49-F238E27FC236}">
                <a16:creationId xmlns:a16="http://schemas.microsoft.com/office/drawing/2014/main" id="{D09D7BDC-E460-497F-A46B-6CE37D660FCB}"/>
              </a:ext>
            </a:extLst>
          </p:cNvPr>
          <p:cNvSpPr>
            <a:spLocks noGrp="1"/>
          </p:cNvSpPr>
          <p:nvPr>
            <p:ph type="title"/>
          </p:nvPr>
        </p:nvSpPr>
        <p:spPr>
          <a:xfrm>
            <a:off x="311700" y="445025"/>
            <a:ext cx="8520600" cy="572700"/>
          </a:xfrm>
          <a:prstGeom prst="rect">
            <a:avLst/>
          </a:prstGeom>
          <a:noFill/>
          <a:ln>
            <a:noFill/>
          </a:ln>
        </p:spPr>
        <p:txBody>
          <a:bodyPr spcFirstLastPara="1" wrap="square" lIns="0" tIns="91425" rIns="0" bIns="91425" anchor="t">
            <a:normAutofit/>
          </a:bodyPr>
          <a:lstStyle/>
          <a:p>
            <a:pPr marL="0" lvl="0" indent="0" algn="l">
              <a:lnSpc>
                <a:spcPct val="100000"/>
              </a:lnSpc>
              <a:spcBef>
                <a:spcPts val="0"/>
              </a:spcBef>
              <a:spcAft>
                <a:spcPts val="0"/>
              </a:spcAft>
              <a:buSzPct val="111111"/>
              <a:buNone/>
            </a:pPr>
            <a:r>
              <a:rPr sz="2500"/>
              <a:t>Objectives</a:t>
            </a:r>
          </a:p>
        </p:txBody>
      </p:sp>
      <p:sp>
        <p:nvSpPr>
          <p:cNvPr id="65" name="Google Shape;65;p14">
            <a:extLst>
              <a:ext uri="{FF2B5EF4-FFF2-40B4-BE49-F238E27FC236}">
                <a16:creationId xmlns:a16="http://schemas.microsoft.com/office/drawing/2014/main" id="{36C74FE8-1DEB-4CA7-8E57-08487F3302E3}"/>
              </a:ext>
            </a:extLst>
          </p:cNvPr>
          <p:cNvSpPr>
            <a:spLocks noGrp="1"/>
          </p:cNvSpPr>
          <p:nvPr>
            <p:ph type="body" idx="1"/>
          </p:nvPr>
        </p:nvSpPr>
        <p:spPr>
          <a:xfrm>
            <a:off x="311700" y="936343"/>
            <a:ext cx="8520600" cy="3762132"/>
          </a:xfrm>
          <a:prstGeom prst="rect">
            <a:avLst/>
          </a:prstGeom>
          <a:noFill/>
          <a:ln>
            <a:noFill/>
          </a:ln>
        </p:spPr>
        <p:txBody>
          <a:bodyPr spcFirstLastPara="1" wrap="square" lIns="90000" tIns="90000" rIns="90000" bIns="90000" anchor="t">
            <a:noAutofit/>
          </a:bodyPr>
          <a:lstStyle/>
          <a:p>
            <a:pPr marL="285750" lvl="0" indent="-285750" algn="l">
              <a:lnSpc>
                <a:spcPct val="115000"/>
              </a:lnSpc>
              <a:spcAft>
                <a:spcPts val="0"/>
              </a:spcAft>
              <a:buClr>
                <a:schemeClr val="dk1"/>
              </a:buClr>
              <a:buSzPct val="108108"/>
              <a:buFont typeface="Wingdings"/>
              <a:buChar char="§"/>
            </a:pPr>
            <a:r>
              <a:rPr sz="1400" b="1">
                <a:solidFill>
                  <a:schemeClr val="dk1"/>
                </a:solidFill>
              </a:rPr>
              <a:t>Common</a:t>
            </a:r>
          </a:p>
          <a:p>
            <a:pPr marL="742950" lvl="1" indent="-285750">
              <a:buClr>
                <a:schemeClr val="dk1"/>
              </a:buClr>
              <a:buSzPct val="108108"/>
              <a:buFont typeface="Font di sistema regolare"/>
              <a:buChar char="-"/>
            </a:pPr>
            <a:r>
              <a:t>Evaluate state-of-the-art machine learning frameworks and use them to develop a structured collection of notebooks addressing the MONK and CUP type B assignment requirements. </a:t>
            </a:r>
          </a:p>
          <a:p>
            <a:pPr marL="1200150" lvl="2" indent="-285750">
              <a:buClr>
                <a:schemeClr val="dk1"/>
              </a:buClr>
              <a:buSzPct val="108108"/>
              <a:buFont typeface="Font di sistema regolare"/>
              <a:buChar char="-"/>
            </a:pPr>
            <a:r>
              <a:rPr sz="1200"/>
              <a:t>PyTorch was used for neural-network implementation, while scikit-learn was adopted for other machine learning models (SVM, KNN,..).</a:t>
            </a:r>
          </a:p>
          <a:p>
            <a:pPr marL="285750" lvl="0" indent="-285750">
              <a:buClr>
                <a:schemeClr val="dk1"/>
              </a:buClr>
              <a:buSzPct val="108108"/>
              <a:buFont typeface="Wingdings"/>
              <a:buChar char="§"/>
            </a:pPr>
            <a:r>
              <a:rPr sz="1400" b="1">
                <a:solidFill>
                  <a:schemeClr val="dk1"/>
                </a:solidFill>
              </a:rPr>
              <a:t>Monk</a:t>
            </a:r>
          </a:p>
          <a:p>
            <a:pPr marL="742950" lvl="1" indent="-285750">
              <a:buClr>
                <a:schemeClr val="dk1"/>
              </a:buClr>
              <a:buSzPct val="108108"/>
              <a:buFont typeface="Font di sistema regolare"/>
              <a:buChar char="-"/>
            </a:pPr>
            <a:r>
              <a:t>Develop a reusable framework for model selection and comparison across KNN, kernel-based SVMs and neural networks on the three MONK classification tasks. For MONK-3, provide both regularized and unregularized neural-network configurations</a:t>
            </a:r>
          </a:p>
          <a:p>
            <a:pPr marL="742950" lvl="1" indent="-285750">
              <a:buClr>
                <a:schemeClr val="dk1"/>
              </a:buClr>
              <a:buSzPct val="108108"/>
              <a:buFont typeface="Font di sistema regolare"/>
              <a:buChar char="-"/>
            </a:pPr>
            <a:r>
              <a:t>The resulting framework serves as the methodological and software foundation for the CUP task.</a:t>
            </a:r>
          </a:p>
          <a:p>
            <a:pPr marL="285750" lvl="0" indent="-285750" algn="l">
              <a:lnSpc>
                <a:spcPct val="115000"/>
              </a:lnSpc>
              <a:spcAft>
                <a:spcPts val="0"/>
              </a:spcAft>
              <a:buSzPct val="108108"/>
              <a:buFont typeface="Wingdings"/>
              <a:buChar char="§"/>
            </a:pPr>
            <a:r>
              <a:rPr sz="1400" b="1">
                <a:solidFill>
                  <a:schemeClr val="dk1"/>
                </a:solidFill>
              </a:rPr>
              <a:t>CUP</a:t>
            </a:r>
          </a:p>
          <a:p>
            <a:pPr marL="742950" lvl="1" indent="-285750">
              <a:buSzPct val="108108"/>
              <a:buFont typeface="Font di sistema regolare"/>
              <a:buChar char="-"/>
            </a:pPr>
            <a:r>
              <a:t>Reuse the shared framework to build a regression pipeline for ML-CUP25, using Mean Euclidean Error as the primary model-selection metric. </a:t>
            </a:r>
          </a:p>
          <a:p>
            <a:pPr marL="742950" lvl="1" indent="-285750">
              <a:buSzPct val="108108"/>
              <a:buFont typeface="Font di sistema regolare"/>
              <a:buChar char="-"/>
            </a:pPr>
            <a:r>
              <a:t>Combine complementary models through ensemble weights learned exclusively from out-of-fold predictions. </a:t>
            </a:r>
          </a:p>
          <a:p>
            <a:pPr marL="742950" lvl="1" indent="-285750">
              <a:buSzPct val="108108"/>
              <a:buFont typeface="Font di sistema regolare"/>
              <a:buChar char="-"/>
            </a:pPr>
            <a:r>
              <a:t>Produce a reproducible blind-test submission in the required CUP format.</a:t>
            </a:r>
          </a:p>
        </p:txBody>
      </p:sp>
      <p:sp>
        <p:nvSpPr>
          <p:cNvPr id="66" name="Google Shape;66;p14">
            <a:extLst>
              <a:ext uri="{FF2B5EF4-FFF2-40B4-BE49-F238E27FC236}">
                <a16:creationId xmlns:a16="http://schemas.microsoft.com/office/drawing/2014/main" id="{45CDEC6E-59DB-45ED-8DB6-B357D4ABC91E}"/>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E2598689-54C9-18A7-3A19-ED76AA08988F}" type="slidenum">
              <a:rPr/>
              <a:t>2</a:t>
            </a:fld>
            <a:endParaRPr/>
          </a:p>
        </p:txBody>
      </p:sp>
    </p:spTree>
    <p:extLst>
      <p:ext uri="{BB962C8B-B14F-4D97-AF65-F5344CB8AC3E}">
        <p14:creationId xmlns:p14="http://schemas.microsoft.com/office/powerpoint/2010/main" val="1049128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133;p23">
            <a:extLst>
              <a:ext uri="{FF2B5EF4-FFF2-40B4-BE49-F238E27FC236}">
                <a16:creationId xmlns:a16="http://schemas.microsoft.com/office/drawing/2014/main" id="{2723672C-03D3-C57C-EC0C-9E28B1E3BB4D}"/>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lvl="0">
              <a:buSzPct val="111111"/>
              <a:buNone/>
            </a:pPr>
            <a:r>
              <a:rPr sz="2500"/>
              <a:t>Model selection — methodological overview</a:t>
            </a:r>
          </a:p>
        </p:txBody>
      </p:sp>
      <p:sp>
        <p:nvSpPr>
          <p:cNvPr id="134" name="Google Shape;134;p23">
            <a:extLst>
              <a:ext uri="{FF2B5EF4-FFF2-40B4-BE49-F238E27FC236}">
                <a16:creationId xmlns:a16="http://schemas.microsoft.com/office/drawing/2014/main" id="{08631D1F-532A-EAF1-5905-DCD85743710C}"/>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a:buSzPct val="100000"/>
              <a:buFont typeface="Wingdings"/>
              <a:buChar char="§"/>
            </a:pPr>
            <a:r>
              <a:rPr sz="1400" b="1"/>
              <a:t>Data preparation</a:t>
            </a:r>
            <a:endParaRPr sz="1400"/>
          </a:p>
          <a:p>
            <a:pPr lvl="1">
              <a:buSzPct val="100000"/>
              <a:buFont typeface="Font di sistema regolare"/>
              <a:buChar char="-"/>
            </a:pPr>
            <a:r>
              <a:t>MONK categorical attributes were transformed using canonical one-hot encoding.</a:t>
            </a:r>
          </a:p>
          <a:p>
            <a:pPr lvl="1">
              <a:buSzPct val="100000"/>
              <a:buFont typeface="Font di sistema regolare"/>
              <a:buChar char="-"/>
            </a:pPr>
            <a:r>
              <a:t>CUP preprocessing was performed within each training fold to prevent data leakage.</a:t>
            </a:r>
          </a:p>
          <a:p>
            <a:pPr lvl="1">
              <a:buSzPct val="100000"/>
              <a:buFont typeface="Font di sistema regolare"/>
              <a:buChar char="-"/>
            </a:pPr>
            <a:r>
              <a:t>The CUP labelled set was split once into 400 development and 100 internal-test cases.</a:t>
            </a:r>
          </a:p>
          <a:p>
            <a:pPr>
              <a:buSzPct val="100000"/>
              <a:buFont typeface="Wingdings"/>
              <a:buChar char="§"/>
            </a:pPr>
            <a:r>
              <a:rPr sz="1400" b="1"/>
              <a:t>Hyperparameter selection</a:t>
            </a:r>
            <a:endParaRPr sz="1400"/>
          </a:p>
          <a:p>
            <a:pPr lvl="1">
              <a:buSzPct val="100000"/>
              <a:buFont typeface="Font di sistema regolare"/>
              <a:buChar char="-"/>
            </a:pPr>
            <a:r>
              <a:t>Scikit-learn models: exhaustive GridSearchCV over discrete, model-specific search spaces.</a:t>
            </a:r>
          </a:p>
          <a:p>
            <a:pPr lvl="1">
              <a:buSzPct val="100000"/>
              <a:buFont typeface="Font di sistema regolare"/>
              <a:buChar char="-"/>
            </a:pPr>
            <a:r>
              <a:t>Neural networks: sequential Optuna optimization to keep the search computationally feasible.</a:t>
            </a:r>
          </a:p>
          <a:p>
            <a:pPr lvl="1">
              <a:buSzPct val="100000"/>
              <a:buFont typeface="Font di sistema regolare"/>
              <a:buChar char="-"/>
            </a:pPr>
            <a:r>
              <a:rPr sz="1400"/>
              <a:t>The task-specific validation metric (MEE for the CUP and MSE for MONK) was the primary selection criterion; training–validation gaps and complementary metrics </a:t>
            </a:r>
            <a:r>
              <a:t>such as MSE, RMSE and R² </a:t>
            </a:r>
            <a:r>
              <a:rPr sz="1400"/>
              <a:t>were used diagnostically</a:t>
            </a:r>
            <a:r>
              <a:t> for the CUP.</a:t>
            </a:r>
            <a:endParaRPr sz="1400"/>
          </a:p>
          <a:p>
            <a:pPr>
              <a:buSzPct val="100000"/>
              <a:buFont typeface="Wingdings"/>
              <a:buChar char="§"/>
            </a:pPr>
            <a:r>
              <a:rPr sz="1400" b="1"/>
              <a:t>Verification and assessment</a:t>
            </a:r>
          </a:p>
          <a:p>
            <a:pPr lvl="1">
              <a:buSzPct val="100000"/>
              <a:buFont typeface="Font di sistema regolare"/>
              <a:buChar char="-"/>
            </a:pPr>
            <a:r>
              <a:rPr sz="1400"/>
              <a:t>N</a:t>
            </a:r>
            <a:r>
              <a:t>ested CV was used on CUP to quantify selection optimism for scikit-learn models.</a:t>
            </a:r>
          </a:p>
          <a:p>
            <a:pPr lvl="1">
              <a:buSzPct val="100000"/>
              <a:buFont typeface="Font di sistema regolare"/>
              <a:buChar char="-"/>
            </a:pPr>
            <a:r>
              <a:t>Dedicated manual NN notebooks were built to verify the Optuna-selected configurations.</a:t>
            </a:r>
          </a:p>
          <a:p>
            <a:pPr lvl="1">
              <a:buSzPct val="100000"/>
              <a:buFont typeface="Font di sistema regolare"/>
              <a:buChar char="-"/>
            </a:pPr>
            <a:r>
              <a:t>All choices were frozen before the single evaluation on the untouched internal test.</a:t>
            </a:r>
          </a:p>
        </p:txBody>
      </p:sp>
      <p:sp>
        <p:nvSpPr>
          <p:cNvPr id="135" name="Google Shape;135;p23">
            <a:extLst>
              <a:ext uri="{FF2B5EF4-FFF2-40B4-BE49-F238E27FC236}">
                <a16:creationId xmlns:a16="http://schemas.microsoft.com/office/drawing/2014/main" id="{73FFD662-AF8B-4C8E-006F-09ABC1E6CEA0}"/>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2DD23107-4986-8758-3A93-3D74F35908CC}" type="slidenum">
              <a:rPr/>
              <a:t>3</a:t>
            </a:fld>
            <a:endParaRPr/>
          </a:p>
        </p:txBody>
      </p:sp>
    </p:spTree>
    <p:extLst>
      <p:ext uri="{BB962C8B-B14F-4D97-AF65-F5344CB8AC3E}">
        <p14:creationId xmlns:p14="http://schemas.microsoft.com/office/powerpoint/2010/main" val="328177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Google Shape;104;p19">
            <a:extLst>
              <a:ext uri="{FF2B5EF4-FFF2-40B4-BE49-F238E27FC236}">
                <a16:creationId xmlns:a16="http://schemas.microsoft.com/office/drawing/2014/main" id="{43554BBF-7693-67AA-0296-2F4C00D222D1}"/>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lvl="0">
              <a:buSzPct val="111111"/>
              <a:buNone/>
            </a:pPr>
            <a:r>
              <a:t>Model selection — GridSearchCV methodology</a:t>
            </a:r>
          </a:p>
        </p:txBody>
      </p:sp>
      <p:sp>
        <p:nvSpPr>
          <p:cNvPr id="105" name="Google Shape;105;p19">
            <a:extLst>
              <a:ext uri="{FF2B5EF4-FFF2-40B4-BE49-F238E27FC236}">
                <a16:creationId xmlns:a16="http://schemas.microsoft.com/office/drawing/2014/main" id="{C90E72A4-F5F0-47E7-4D7F-3992634AB620}"/>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114300" indent="0">
              <a:buNone/>
            </a:pPr>
            <a:r>
              <a:rPr sz="1400"/>
              <a:t>GridSearchCV was used for the scikit-learn models because their hyperparameter spaces were discrete, bounded and computationally manageable for it evaluates every combination in each predefined model-specific grid. All preprocessing operations were included in a Pipeline, ensuring that scaling was fitted independently within each training fold and preventing information leakage. The workflow was:</a:t>
            </a:r>
          </a:p>
          <a:p>
            <a:pPr marL="514350" lvl="0" indent="-400050">
              <a:buSzPct val="100000"/>
              <a:buFont typeface="+mj-lt"/>
              <a:buAutoNum type="romanLcPeriod"/>
            </a:pPr>
            <a:r>
              <a:rPr sz="1300" b="1"/>
              <a:t>Model-specific search spaces:</a:t>
            </a:r>
            <a:r>
              <a:rPr sz="1300"/>
              <a:t> separate grids were defined for each models according to the parameters relevant to each estimator.</a:t>
            </a:r>
          </a:p>
          <a:p>
            <a:pPr marL="514350" lvl="0" indent="-400050">
              <a:buSzPct val="100000"/>
              <a:buFont typeface="+mj-lt"/>
              <a:buAutoNum type="romanLcPeriod"/>
            </a:pPr>
            <a:r>
              <a:rPr sz="1300" b="1"/>
              <a:t>Fold-local preprocessing:</a:t>
            </a:r>
            <a:r>
              <a:rPr sz="1300"/>
              <a:t> scaling and model fitting were combined in a single pipeline, so each candidate configuration was evaluated using only the training portion of each fold.</a:t>
            </a:r>
          </a:p>
          <a:p>
            <a:pPr marL="514350" lvl="0" indent="-400050">
              <a:buSzPct val="100000"/>
              <a:buFont typeface="+mj-lt"/>
              <a:buAutoNum type="romanLcPeriod"/>
            </a:pPr>
            <a:r>
              <a:rPr sz="1300" b="1"/>
              <a:t>Exhaustive cross-validated search:</a:t>
            </a:r>
            <a:r>
              <a:rPr sz="1300"/>
              <a:t> every hyperparameter combination was evaluated on the development set using the same shared cross-validation strategy and MEE as the primary selection criterion.</a:t>
            </a:r>
          </a:p>
          <a:p>
            <a:pPr marL="514350" lvl="0" indent="-400050">
              <a:buSzPct val="100000"/>
              <a:buFont typeface="+mj-lt"/>
              <a:buAutoNum type="romanLcPeriod"/>
            </a:pPr>
            <a:r>
              <a:rPr sz="1300" b="1"/>
              <a:t>Nested-CV diagnostic assessment:</a:t>
            </a:r>
            <a:r>
              <a:rPr sz="1300"/>
              <a:t> an inner three-fold GridSearchCV was embedded within the outer cross-validation loop to estimate selection bias and compare nested and non-nested results.</a:t>
            </a:r>
          </a:p>
          <a:p>
            <a:pPr marL="514350" lvl="0" indent="-400050">
              <a:buSzPct val="100000"/>
              <a:buFont typeface="+mj-lt"/>
              <a:buAutoNum type="romanLcPeriod"/>
            </a:pPr>
            <a:r>
              <a:rPr sz="1300" b="1"/>
              <a:t>Configuration freezing and refit:</a:t>
            </a:r>
            <a:r>
              <a:rPr sz="1300"/>
              <a:t> eventually the selected configuration was frozen and refitted on the complete development set to perofrm a single internal-test assessment.</a:t>
            </a:r>
          </a:p>
        </p:txBody>
      </p:sp>
      <p:sp>
        <p:nvSpPr>
          <p:cNvPr id="106" name="Google Shape;106;p19">
            <a:extLst>
              <a:ext uri="{FF2B5EF4-FFF2-40B4-BE49-F238E27FC236}">
                <a16:creationId xmlns:a16="http://schemas.microsoft.com/office/drawing/2014/main" id="{30F59441-2757-9E2B-3DC9-B66B11440797}"/>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90F7333B-44AC-F7E9-D49D-FE92F45E0477}" type="slidenum">
              <a:rPr/>
              <a:t>4</a:t>
            </a:fld>
            <a:endParaRPr/>
          </a:p>
        </p:txBody>
      </p:sp>
    </p:spTree>
    <p:extLst>
      <p:ext uri="{BB962C8B-B14F-4D97-AF65-F5344CB8AC3E}">
        <p14:creationId xmlns:p14="http://schemas.microsoft.com/office/powerpoint/2010/main" val="3938652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Google Shape;104;p19">
            <a:extLst>
              <a:ext uri="{FF2B5EF4-FFF2-40B4-BE49-F238E27FC236}">
                <a16:creationId xmlns:a16="http://schemas.microsoft.com/office/drawing/2014/main" id="{BE53D771-64D3-BED4-A039-A68A2E5126EF}"/>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lvl="0">
              <a:buSzPct val="111111"/>
              <a:buNone/>
            </a:pPr>
            <a:r>
              <a:t>Model selection — Optuna methodology</a:t>
            </a:r>
          </a:p>
        </p:txBody>
      </p:sp>
      <p:sp>
        <p:nvSpPr>
          <p:cNvPr id="105" name="Google Shape;105;p19">
            <a:extLst>
              <a:ext uri="{FF2B5EF4-FFF2-40B4-BE49-F238E27FC236}">
                <a16:creationId xmlns:a16="http://schemas.microsoft.com/office/drawing/2014/main" id="{C63A71B8-C249-FC0E-DF8A-BA6EE44B0D01}"/>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114300" indent="0">
              <a:buSzPct val="100000"/>
              <a:buNone/>
            </a:pPr>
            <a:r>
              <a:rPr sz="1400"/>
              <a:t>Optuna hyperparameters were optimized sequentially with a coarse-fine approach to reduce the dimensionality of each search and make the computational cost manageable. For CUP we further compared three different run each with a fixed PyTorch TRAINING_SEED to provides a reproducible and computationally feasible model-selection procedure. Each selected config was then tested on manual notebook with three different seed resulting in 9 search in total from which we picked the best configuration based on metrics evaluation (see Monk and Cup section). Pipeline sequence:</a:t>
            </a:r>
          </a:p>
          <a:p>
            <a:pPr marL="490538" lvl="0" indent="-376238">
              <a:buSzPct val="100000"/>
              <a:buFont typeface="+mj-lt"/>
              <a:buAutoNum type="romanLcPeriod"/>
            </a:pPr>
            <a:r>
              <a:rPr sz="1300" b="1"/>
              <a:t>Learning rate:</a:t>
            </a:r>
            <a:r>
              <a:rPr sz="1300"/>
              <a:t> establishes stable and effective convergence and the reliability of all subsequent comparisons. The search interval has been tuned by observing lr that didn’t fall at the boundary.</a:t>
            </a:r>
          </a:p>
          <a:p>
            <a:pPr lvl="0">
              <a:buSzPct val="100000"/>
              <a:buFont typeface="+mj-lt"/>
              <a:buAutoNum type="romanLcPeriod"/>
            </a:pPr>
            <a:r>
              <a:rPr sz="1300" b="1"/>
              <a:t>Batch size:</a:t>
            </a:r>
            <a:r>
              <a:rPr sz="1300"/>
              <a:t> controls gradient noise and optimization dynamics.</a:t>
            </a:r>
          </a:p>
          <a:p>
            <a:pPr lvl="0">
              <a:buSzPct val="100000"/>
              <a:buFont typeface="+mj-lt"/>
              <a:buAutoNum type="romanLcPeriod"/>
            </a:pPr>
            <a:r>
              <a:rPr sz="1300" b="1"/>
              <a:t>Weight decay:</a:t>
            </a:r>
            <a:r>
              <a:rPr sz="1300"/>
              <a:t> tuned under a reasonably stable training configuration, allowing its effect on generalization to be evaluated more clearly. Again the interval allow the results not to fall at the boundary.</a:t>
            </a:r>
          </a:p>
          <a:p>
            <a:pPr lvl="0">
              <a:buSzPct val="100000"/>
              <a:buFont typeface="+mj-lt"/>
              <a:buAutoNum type="romanLcPeriod"/>
            </a:pPr>
            <a:r>
              <a:rPr sz="1300" b="1"/>
              <a:t>Architecture and activation:</a:t>
            </a:r>
            <a:r>
              <a:rPr sz="1300"/>
              <a:t> they were explored at this stage because these choices are computationally more expensive and their comparison is meaningful only after the main optimization and regularization parameters have been stabilized.</a:t>
            </a:r>
          </a:p>
          <a:p>
            <a:pPr lvl="0">
              <a:buSzPct val="100000"/>
              <a:buFont typeface="+mj-lt"/>
              <a:buAutoNum type="romanLcPeriod"/>
            </a:pPr>
            <a:r>
              <a:rPr sz="1300" b="1"/>
              <a:t>Final cross-validation:</a:t>
            </a:r>
            <a:r>
              <a:rPr sz="1300"/>
              <a:t> verifies the complete selected configuration before internal assessment.</a:t>
            </a:r>
          </a:p>
        </p:txBody>
      </p:sp>
      <p:sp>
        <p:nvSpPr>
          <p:cNvPr id="106" name="Google Shape;106;p19">
            <a:extLst>
              <a:ext uri="{FF2B5EF4-FFF2-40B4-BE49-F238E27FC236}">
                <a16:creationId xmlns:a16="http://schemas.microsoft.com/office/drawing/2014/main" id="{E4BFE65F-8D91-657B-C026-F2F8CD759B08}"/>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90F7333B-44AC-F7E9-D49D-FE92F45E0477}" type="slidenum">
              <a:t>5</a:t>
            </a:fld>
            <a:endParaRPr/>
          </a:p>
        </p:txBody>
      </p:sp>
    </p:spTree>
    <p:extLst>
      <p:ext uri="{BB962C8B-B14F-4D97-AF65-F5344CB8AC3E}">
        <p14:creationId xmlns:p14="http://schemas.microsoft.com/office/powerpoint/2010/main" val="1483628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587645"/>
          </a:xfrm>
          <a:prstGeom prst="rect">
            <a:avLst/>
          </a:prstGeom>
          <a:noFill/>
          <a:ln>
            <a:noFill/>
          </a:ln>
        </p:spPr>
        <p:txBody>
          <a:bodyPr spcFirstLastPara="1" wrap="square" lIns="91425" tIns="91425" rIns="91425" bIns="91425" anchor="t">
            <a:noAutofit/>
          </a:bodyPr>
          <a:lstStyle/>
          <a:p>
            <a:pPr marL="0" lvl="0" indent="0" algn="l">
              <a:lnSpc>
                <a:spcPct val="100000"/>
              </a:lnSpc>
              <a:spcBef>
                <a:spcPts val="0"/>
              </a:spcBef>
              <a:spcAft>
                <a:spcPts val="0"/>
              </a:spcAft>
              <a:buClr>
                <a:schemeClr val="dk1"/>
              </a:buClr>
              <a:buSzPct val="39285"/>
              <a:buFont typeface="Arial"/>
              <a:buNone/>
            </a:pPr>
            <a:r>
              <a:rPr sz="2500"/>
              <a:t>MONK KNN results and hyperparameters overview</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Autofit/>
          </a:bodyPr>
          <a:lstStyle/>
          <a:p>
            <a:pPr marL="0" indent="0">
              <a:spcAft>
                <a:spcPts val="1200"/>
              </a:spcAft>
              <a:buNone/>
            </a:pPr>
            <a:r>
              <a:rPr sz="1400">
                <a:solidFill>
                  <a:schemeClr val="bg2"/>
                </a:solidFill>
              </a:rPr>
              <a:t>KNN models were selected by 5-fold stratified cross-validation over k, distance weighting and Minkowski order, then refitted on each complete training set. Note: With distance-weighted KNN, the training error might be zero by construction, as each training point dominates its own prediction.</a:t>
            </a:r>
          </a:p>
          <a:p>
            <a:pPr marL="0" lvl="0" indent="0" algn="l">
              <a:lnSpc>
                <a:spcPct val="115000"/>
              </a:lnSpc>
              <a:spcBef>
                <a:spcPts val="0"/>
              </a:spcBef>
              <a:spcAft>
                <a:spcPts val="1200"/>
              </a:spcAft>
              <a:buSzPts val="1800"/>
              <a:buNone/>
            </a:pPr>
            <a:endParaRPr sz="1300"/>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DB7BEEEC-A170-5376-2B6E-CB54687B0CB1}" type="slidenum">
              <a:t>6</a:t>
            </a:fld>
            <a:endParaRPr/>
          </a:p>
        </p:txBody>
      </p:sp>
      <p:graphicFrame>
        <p:nvGraphicFramePr>
          <p:cNvPr id="104" name="Tabella 103"/>
          <p:cNvGraphicFramePr/>
          <p:nvPr/>
        </p:nvGraphicFramePr>
        <p:xfrm>
          <a:off x="781050" y="2247900"/>
          <a:ext cx="7581900" cy="1952624"/>
        </p:xfrm>
        <a:graphic>
          <a:graphicData uri="http://schemas.openxmlformats.org/drawingml/2006/table">
            <a:tbl>
              <a:tblPr/>
              <a:tblGrid>
                <a:gridCol w="10001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Task</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Architecture and hyperparameters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MSE (TR / TS)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Accuracy (TR / TS)</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MONK-1</a:t>
                      </a:r>
                    </a:p>
                  </a:txBody>
                  <a:tcPr marL="66675" marR="66675" marT="38100" marB="38100" anchor="ctr"/>
                </a:tc>
                <a:tc>
                  <a:txBody>
                    <a:bodyPr/>
                    <a:lstStyle/>
                    <a:p>
                      <a:r>
                        <a:rPr sz="975">
                          <a:solidFill>
                            <a:srgbClr val="212121"/>
                          </a:solidFill>
                          <a:latin typeface="Arial"/>
                          <a:ea typeface="Arial"/>
                          <a:cs typeface="Arial"/>
                        </a:rPr>
                        <a:t>k=7; Manhattan (p=1); distance weights</a:t>
                      </a:r>
                    </a:p>
                  </a:txBody>
                  <a:tcPr marL="66675" marR="66675" marT="38100" marB="38100" anchor="ctr"/>
                </a:tc>
                <a:tc>
                  <a:txBody>
                    <a:bodyPr/>
                    <a:lstStyle/>
                    <a:p>
                      <a:r>
                        <a:rPr sz="975">
                          <a:solidFill>
                            <a:srgbClr val="212121"/>
                          </a:solidFill>
                          <a:latin typeface="Arial"/>
                          <a:ea typeface="Arial"/>
                          <a:cs typeface="Arial"/>
                        </a:rPr>
                        <a:t>0.00000 / 0.17130</a:t>
                      </a:r>
                    </a:p>
                  </a:txBody>
                  <a:tcPr marL="66675" marR="66675" marT="38100" marB="38100" anchor="ctr"/>
                </a:tc>
                <a:tc>
                  <a:txBody>
                    <a:bodyPr/>
                    <a:lstStyle/>
                    <a:p>
                      <a:r>
                        <a:rPr sz="975">
                          <a:solidFill>
                            <a:srgbClr val="212121"/>
                          </a:solidFill>
                          <a:latin typeface="Arial"/>
                          <a:ea typeface="Arial"/>
                          <a:cs typeface="Arial"/>
                        </a:rPr>
                        <a:t>100.00% / 82.87%</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MONK-2</a:t>
                      </a:r>
                    </a:p>
                  </a:txBody>
                  <a:tcPr marL="66675" marR="66675" marT="38100" marB="38100" anchor="ctr"/>
                </a:tc>
                <a:tc>
                  <a:txBody>
                    <a:bodyPr/>
                    <a:lstStyle/>
                    <a:p>
                      <a:r>
                        <a:rPr sz="975">
                          <a:solidFill>
                            <a:srgbClr val="212121"/>
                          </a:solidFill>
                          <a:latin typeface="Arial"/>
                          <a:ea typeface="Arial"/>
                          <a:cs typeface="Arial"/>
                        </a:rPr>
                        <a:t>k=21; Manhattan (p=1); uniform weights</a:t>
                      </a:r>
                    </a:p>
                  </a:txBody>
                  <a:tcPr marL="66675" marR="66675" marT="38100" marB="38100" anchor="ctr"/>
                </a:tc>
                <a:tc>
                  <a:txBody>
                    <a:bodyPr/>
                    <a:lstStyle/>
                    <a:p>
                      <a:r>
                        <a:rPr sz="975">
                          <a:solidFill>
                            <a:srgbClr val="212121"/>
                          </a:solidFill>
                          <a:latin typeface="Arial"/>
                          <a:ea typeface="Arial"/>
                          <a:cs typeface="Arial"/>
                        </a:rPr>
                        <a:t>0.32544 / 0.34954</a:t>
                      </a:r>
                    </a:p>
                  </a:txBody>
                  <a:tcPr marL="66675" marR="66675" marT="38100" marB="38100" anchor="ctr"/>
                </a:tc>
                <a:tc>
                  <a:txBody>
                    <a:bodyPr/>
                    <a:lstStyle/>
                    <a:p>
                      <a:r>
                        <a:rPr sz="975">
                          <a:solidFill>
                            <a:srgbClr val="212121"/>
                          </a:solidFill>
                          <a:latin typeface="Arial"/>
                          <a:ea typeface="Arial"/>
                          <a:cs typeface="Arial"/>
                        </a:rPr>
                        <a:t>67.46% / 65.05%</a:t>
                      </a:r>
                    </a:p>
                  </a:txBody>
                  <a:tcPr marL="66675" marR="66675" marT="38100" marB="38100" anchor="ctr"/>
                </a:tc>
                <a:extLst>
                  <a:ext uri="{0D108BD9-81ED-4DB2-BD59-A6C34878D82A}">
                    <a16:rowId xmlns:a16="http://schemas.microsoft.com/office/drawing/2014/main" val="10002"/>
                  </a:ext>
                </a:extLst>
              </a:tr>
              <a:tr h="488156">
                <a:tc>
                  <a:txBody>
                    <a:bodyPr/>
                    <a:lstStyle/>
                    <a:p>
                      <a:r>
                        <a:rPr sz="975" b="1">
                          <a:solidFill>
                            <a:srgbClr val="212121"/>
                          </a:solidFill>
                          <a:latin typeface="Arial"/>
                          <a:ea typeface="Arial"/>
                          <a:cs typeface="Arial"/>
                        </a:rPr>
                        <a:t>MONK-3</a:t>
                      </a:r>
                    </a:p>
                  </a:txBody>
                  <a:tcPr marL="66675" marR="66675" marT="38100" marB="38100" anchor="ctr">
                    <a:solidFill>
                      <a:srgbClr val="E8F0FE"/>
                    </a:solidFill>
                  </a:tcPr>
                </a:tc>
                <a:tc>
                  <a:txBody>
                    <a:bodyPr/>
                    <a:lstStyle/>
                    <a:p>
                      <a:r>
                        <a:rPr sz="975">
                          <a:solidFill>
                            <a:srgbClr val="212121"/>
                          </a:solidFill>
                          <a:latin typeface="Arial"/>
                          <a:ea typeface="Arial"/>
                          <a:cs typeface="Arial"/>
                        </a:rPr>
                        <a:t>k=35; Manhattan (p=1); distance weights</a:t>
                      </a:r>
                    </a:p>
                  </a:txBody>
                  <a:tcPr marL="66675" marR="66675" marT="38100" marB="38100" anchor="ctr">
                    <a:solidFill>
                      <a:srgbClr val="E8F0FE"/>
                    </a:solidFill>
                  </a:tcPr>
                </a:tc>
                <a:tc>
                  <a:txBody>
                    <a:bodyPr/>
                    <a:lstStyle/>
                    <a:p>
                      <a:r>
                        <a:rPr sz="975">
                          <a:solidFill>
                            <a:srgbClr val="212121"/>
                          </a:solidFill>
                          <a:latin typeface="Arial"/>
                          <a:ea typeface="Arial"/>
                          <a:cs typeface="Arial"/>
                        </a:rPr>
                        <a:t>0.00000 / 0.06019</a:t>
                      </a:r>
                    </a:p>
                  </a:txBody>
                  <a:tcPr marL="66675" marR="66675" marT="38100" marB="38100" anchor="ctr">
                    <a:solidFill>
                      <a:srgbClr val="E8F0FE"/>
                    </a:solidFill>
                  </a:tcPr>
                </a:tc>
                <a:tc>
                  <a:txBody>
                    <a:bodyPr/>
                    <a:lstStyle/>
                    <a:p>
                      <a:r>
                        <a:rPr sz="975">
                          <a:solidFill>
                            <a:srgbClr val="212121"/>
                          </a:solidFill>
                          <a:latin typeface="Arial"/>
                          <a:ea typeface="Arial"/>
                          <a:cs typeface="Arial"/>
                        </a:rPr>
                        <a:t>100.00% / 93.98%</a:t>
                      </a:r>
                    </a:p>
                  </a:txBody>
                  <a:tcPr marL="66675" marR="66675" marT="38100" marB="38100" anchor="ctr">
                    <a:solidFill>
                      <a:srgbClr val="E8F0FE"/>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marL="0" lvl="0" indent="0" algn="l">
              <a:lnSpc>
                <a:spcPct val="100000"/>
              </a:lnSpc>
              <a:spcBef>
                <a:spcPts val="0"/>
              </a:spcBef>
              <a:spcAft>
                <a:spcPts val="0"/>
              </a:spcAft>
              <a:buClr>
                <a:schemeClr val="dk1"/>
              </a:buClr>
              <a:buSzPct val="39285"/>
              <a:buFont typeface="Arial"/>
              <a:buNone/>
            </a:pPr>
            <a:r>
              <a:rPr sz="2500"/>
              <a:t>MONK SVM results and hyperparameters overview</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Autofit/>
          </a:bodyPr>
          <a:lstStyle/>
          <a:p>
            <a:pPr marL="0" lvl="0" indent="0" algn="l">
              <a:lnSpc>
                <a:spcPct val="115000"/>
              </a:lnSpc>
              <a:spcBef>
                <a:spcPts val="0"/>
              </a:spcBef>
              <a:spcAft>
                <a:spcPts val="1200"/>
              </a:spcAft>
              <a:buSzPts val="1800"/>
              <a:buNone/>
            </a:pPr>
            <a:r>
              <a:rPr sz="1400"/>
              <a:t>SVM models were selected by 5-fold stratified cross-validation over kernel-specific parameters and regularization strength C, then refitted on each complete training set. Note: all the Monk Learners lead towards Polynomial Kernel as the best performers.</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30394428-F1DC-E5F6-DB0C-7DE31F3D8A23}" type="slidenum">
              <a:t>7</a:t>
            </a:fld>
            <a:endParaRPr/>
          </a:p>
        </p:txBody>
      </p:sp>
      <p:graphicFrame>
        <p:nvGraphicFramePr>
          <p:cNvPr id="104" name="Tabella 103"/>
          <p:cNvGraphicFramePr/>
          <p:nvPr/>
        </p:nvGraphicFramePr>
        <p:xfrm>
          <a:off x="781050" y="2247900"/>
          <a:ext cx="7581900" cy="1952624"/>
        </p:xfrm>
        <a:graphic>
          <a:graphicData uri="http://schemas.openxmlformats.org/drawingml/2006/table">
            <a:tbl>
              <a:tblPr/>
              <a:tblGrid>
                <a:gridCol w="10001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Task</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Architecture and hyperparameters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MSE (TR / TS)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Accuracy (TR / TS)</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MONK-1</a:t>
                      </a:r>
                    </a:p>
                  </a:txBody>
                  <a:tcPr marL="66675" marR="66675" marT="38100" marB="38100" anchor="ctr"/>
                </a:tc>
                <a:tc>
                  <a:txBody>
                    <a:bodyPr/>
                    <a:lstStyle/>
                    <a:p>
                      <a:r>
                        <a:rPr sz="975">
                          <a:solidFill>
                            <a:srgbClr val="212121"/>
                          </a:solidFill>
                          <a:latin typeface="Arial"/>
                          <a:ea typeface="Arial"/>
                          <a:cs typeface="Arial"/>
                        </a:rPr>
                        <a:t>Polynomial; C=1; gamma=1; degree=2</a:t>
                      </a:r>
                    </a:p>
                  </a:txBody>
                  <a:tcPr marL="66675" marR="66675" marT="38100" marB="38100" anchor="ctr"/>
                </a:tc>
                <a:tc>
                  <a:txBody>
                    <a:bodyPr/>
                    <a:lstStyle/>
                    <a:p>
                      <a:r>
                        <a:rPr sz="975">
                          <a:solidFill>
                            <a:srgbClr val="212121"/>
                          </a:solidFill>
                          <a:latin typeface="Arial"/>
                          <a:ea typeface="Arial"/>
                          <a:cs typeface="Arial"/>
                        </a:rPr>
                        <a:t>0.00000 / 0.00000</a:t>
                      </a:r>
                    </a:p>
                  </a:txBody>
                  <a:tcPr marL="66675" marR="66675" marT="38100" marB="38100" anchor="ctr"/>
                </a:tc>
                <a:tc>
                  <a:txBody>
                    <a:bodyPr/>
                    <a:lstStyle/>
                    <a:p>
                      <a:r>
                        <a:rPr sz="975">
                          <a:solidFill>
                            <a:srgbClr val="212121"/>
                          </a:solidFill>
                          <a:latin typeface="Arial"/>
                          <a:ea typeface="Arial"/>
                          <a:cs typeface="Arial"/>
                        </a:rPr>
                        <a:t>100.00% / 100.00%</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MONK-2</a:t>
                      </a:r>
                    </a:p>
                  </a:txBody>
                  <a:tcPr marL="66675" marR="66675" marT="38100" marB="38100" anchor="ctr"/>
                </a:tc>
                <a:tc>
                  <a:txBody>
                    <a:bodyPr/>
                    <a:lstStyle/>
                    <a:p>
                      <a:r>
                        <a:rPr sz="975">
                          <a:solidFill>
                            <a:srgbClr val="212121"/>
                          </a:solidFill>
                          <a:latin typeface="Arial"/>
                          <a:ea typeface="Arial"/>
                          <a:cs typeface="Arial"/>
                        </a:rPr>
                        <a:t>Polynomial; C=10; gamma=1; degree=2</a:t>
                      </a:r>
                    </a:p>
                  </a:txBody>
                  <a:tcPr marL="66675" marR="66675" marT="38100" marB="38100" anchor="ctr"/>
                </a:tc>
                <a:tc>
                  <a:txBody>
                    <a:bodyPr/>
                    <a:lstStyle/>
                    <a:p>
                      <a:r>
                        <a:rPr sz="975">
                          <a:solidFill>
                            <a:srgbClr val="212121"/>
                          </a:solidFill>
                          <a:latin typeface="Arial"/>
                          <a:ea typeface="Arial"/>
                          <a:cs typeface="Arial"/>
                        </a:rPr>
                        <a:t>0.00000 / 0.00000</a:t>
                      </a:r>
                    </a:p>
                  </a:txBody>
                  <a:tcPr marL="66675" marR="66675" marT="38100" marB="38100" anchor="ctr"/>
                </a:tc>
                <a:tc>
                  <a:txBody>
                    <a:bodyPr/>
                    <a:lstStyle/>
                    <a:p>
                      <a:r>
                        <a:rPr sz="975">
                          <a:solidFill>
                            <a:srgbClr val="212121"/>
                          </a:solidFill>
                          <a:latin typeface="Arial"/>
                          <a:ea typeface="Arial"/>
                          <a:cs typeface="Arial"/>
                        </a:rPr>
                        <a:t>100.00% / 100.00%</a:t>
                      </a:r>
                    </a:p>
                  </a:txBody>
                  <a:tcPr marL="66675" marR="66675" marT="38100" marB="38100" anchor="ctr"/>
                </a:tc>
                <a:extLst>
                  <a:ext uri="{0D108BD9-81ED-4DB2-BD59-A6C34878D82A}">
                    <a16:rowId xmlns:a16="http://schemas.microsoft.com/office/drawing/2014/main" val="10002"/>
                  </a:ext>
                </a:extLst>
              </a:tr>
              <a:tr h="488156">
                <a:tc>
                  <a:txBody>
                    <a:bodyPr/>
                    <a:lstStyle/>
                    <a:p>
                      <a:r>
                        <a:rPr sz="975" b="1">
                          <a:solidFill>
                            <a:srgbClr val="212121"/>
                          </a:solidFill>
                          <a:latin typeface="Arial"/>
                          <a:ea typeface="Arial"/>
                          <a:cs typeface="Arial"/>
                        </a:rPr>
                        <a:t>MONK-3</a:t>
                      </a:r>
                    </a:p>
                  </a:txBody>
                  <a:tcPr marL="66675" marR="66675" marT="38100" marB="38100" anchor="ctr">
                    <a:solidFill>
                      <a:srgbClr val="E8F0FE"/>
                    </a:solidFill>
                  </a:tcPr>
                </a:tc>
                <a:tc>
                  <a:txBody>
                    <a:bodyPr/>
                    <a:lstStyle/>
                    <a:p>
                      <a:r>
                        <a:rPr sz="975">
                          <a:solidFill>
                            <a:srgbClr val="212121"/>
                          </a:solidFill>
                          <a:latin typeface="Arial"/>
                          <a:ea typeface="Arial"/>
                          <a:cs typeface="Arial"/>
                        </a:rPr>
                        <a:t>Polynomial; C=10; gamma=0.1; degree=3</a:t>
                      </a:r>
                    </a:p>
                  </a:txBody>
                  <a:tcPr marL="66675" marR="66675" marT="38100" marB="38100" anchor="ctr">
                    <a:solidFill>
                      <a:srgbClr val="E8F0FE"/>
                    </a:solidFill>
                  </a:tcPr>
                </a:tc>
                <a:tc>
                  <a:txBody>
                    <a:bodyPr/>
                    <a:lstStyle/>
                    <a:p>
                      <a:r>
                        <a:rPr sz="975">
                          <a:solidFill>
                            <a:srgbClr val="212121"/>
                          </a:solidFill>
                          <a:latin typeface="Arial"/>
                          <a:ea typeface="Arial"/>
                          <a:cs typeface="Arial"/>
                        </a:rPr>
                        <a:t>0.04098 / 0.01852</a:t>
                      </a:r>
                    </a:p>
                  </a:txBody>
                  <a:tcPr marL="66675" marR="66675" marT="38100" marB="38100" anchor="ctr">
                    <a:solidFill>
                      <a:srgbClr val="E8F0FE"/>
                    </a:solidFill>
                  </a:tcPr>
                </a:tc>
                <a:tc>
                  <a:txBody>
                    <a:bodyPr/>
                    <a:lstStyle/>
                    <a:p>
                      <a:r>
                        <a:rPr sz="975">
                          <a:solidFill>
                            <a:srgbClr val="212121"/>
                          </a:solidFill>
                          <a:latin typeface="Arial"/>
                          <a:ea typeface="Arial"/>
                          <a:cs typeface="Arial"/>
                        </a:rPr>
                        <a:t>95.90% / 98.15%</a:t>
                      </a:r>
                    </a:p>
                  </a:txBody>
                  <a:tcPr marL="66675" marR="66675" marT="38100" marB="38100" anchor="ctr">
                    <a:solidFill>
                      <a:srgbClr val="E8F0FE"/>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613108"/>
          </a:xfrm>
          <a:prstGeom prst="rect">
            <a:avLst/>
          </a:prstGeom>
          <a:noFill/>
          <a:ln>
            <a:noFill/>
          </a:ln>
        </p:spPr>
        <p:txBody>
          <a:bodyPr spcFirstLastPara="1" wrap="square" lIns="91425" tIns="91425" rIns="91425" bIns="91425" anchor="t">
            <a:noAutofit/>
          </a:bodyPr>
          <a:lstStyle/>
          <a:p>
            <a:pPr marL="0" lvl="0" indent="0" algn="l">
              <a:lnSpc>
                <a:spcPct val="100000"/>
              </a:lnSpc>
              <a:spcBef>
                <a:spcPts val="0"/>
              </a:spcBef>
              <a:spcAft>
                <a:spcPts val="0"/>
              </a:spcAft>
              <a:buClr>
                <a:schemeClr val="dk1"/>
              </a:buClr>
              <a:buSzPct val="39285"/>
              <a:buFont typeface="Arial"/>
              <a:buNone/>
            </a:pPr>
            <a:r>
              <a:rPr sz="2500"/>
              <a:t>MONK NN results and hyperparameters overview</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Autofit/>
          </a:bodyPr>
          <a:lstStyle/>
          <a:p>
            <a:pPr marL="0" lvl="0" indent="0" algn="l">
              <a:lnSpc>
                <a:spcPct val="115000"/>
              </a:lnSpc>
              <a:spcBef>
                <a:spcPts val="0"/>
              </a:spcBef>
              <a:spcAft>
                <a:spcPts val="1200"/>
              </a:spcAft>
              <a:buSzPts val="1800"/>
              <a:buNone/>
            </a:pPr>
            <a:r>
              <a:rPr sz="1400"/>
              <a:t>Optuna-derived NNs use SGD with common momentum and Nesterov acceleration, BCEWithLogits loss and mini-batches of 20. Note for MONK-3: (1) the unregularized run is a diagnostic comparison (2) Optuna was not particularly efficient in exploring the search space due to small train set so we ended up manually experimenting hyperparameters tuning.</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4DB16885-0D3F-A391-B669-3211DB3B26E8}" type="slidenum">
              <a:rPr/>
              <a:t>8</a:t>
            </a:fld>
            <a:endParaRPr/>
          </a:p>
        </p:txBody>
      </p:sp>
      <p:graphicFrame>
        <p:nvGraphicFramePr>
          <p:cNvPr id="104" name="Tabella 103"/>
          <p:cNvGraphicFramePr/>
          <p:nvPr>
            <p:extLst>
              <p:ext uri="{D42A27DB-BD31-4B8C-83A1-F6EECF244321}">
                <p14:modId xmlns:p14="http://schemas.microsoft.com/office/powerpoint/2010/main" val="2688285759"/>
              </p:ext>
            </p:extLst>
          </p:nvPr>
        </p:nvGraphicFramePr>
        <p:xfrm>
          <a:off x="781050" y="2247900"/>
          <a:ext cx="7581900" cy="2440780"/>
        </p:xfrm>
        <a:graphic>
          <a:graphicData uri="http://schemas.openxmlformats.org/drawingml/2006/table">
            <a:tbl>
              <a:tblPr/>
              <a:tblGrid>
                <a:gridCol w="10001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Task</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Architecture and hyperparameters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MSE (TR / TS)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Accuracy (TR / TS)</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MONK-1</a:t>
                      </a:r>
                    </a:p>
                  </a:txBody>
                  <a:tcPr marL="66675" marR="66675" marT="38100" marB="38100" anchor="ctr"/>
                </a:tc>
                <a:tc>
                  <a:txBody>
                    <a:bodyPr/>
                    <a:lstStyle/>
                    <a:p>
                      <a:r>
                        <a:rPr sz="975">
                          <a:solidFill>
                            <a:srgbClr val="212121"/>
                          </a:solidFill>
                          <a:latin typeface="Arial"/>
                          <a:ea typeface="Arial"/>
                          <a:cs typeface="Arial"/>
                        </a:rPr>
                        <a:t>8 ReLU; η=0.02991; λ=6.42×10⁻⁶; </a:t>
                      </a:r>
                      <a:r>
                        <a:rPr sz="975" b="0" i="0" u="none" cap="none">
                          <a:solidFill>
                            <a:srgbClr val="212121"/>
                          </a:solidFill>
                          <a:latin typeface="Arial"/>
                          <a:ea typeface="Arial"/>
                          <a:cs typeface="Arial"/>
                        </a:rPr>
                        <a:t>μ = 0.9, 458 ep.</a:t>
                      </a:r>
                    </a:p>
                  </a:txBody>
                  <a:tcPr marL="66675" marR="66675" marT="38100" marB="38100" anchor="ctr"/>
                </a:tc>
                <a:tc>
                  <a:txBody>
                    <a:bodyPr/>
                    <a:lstStyle/>
                    <a:p>
                      <a:r>
                        <a:rPr sz="975">
                          <a:solidFill>
                            <a:srgbClr val="212121"/>
                          </a:solidFill>
                          <a:latin typeface="Arial"/>
                          <a:ea typeface="Arial"/>
                          <a:cs typeface="Arial"/>
                        </a:rPr>
                        <a:t>2.52×10⁻⁶ / 4.76×10⁻⁴</a:t>
                      </a:r>
                    </a:p>
                  </a:txBody>
                  <a:tcPr marL="66675" marR="66675" marT="38100" marB="38100" anchor="ctr"/>
                </a:tc>
                <a:tc>
                  <a:txBody>
                    <a:bodyPr/>
                    <a:lstStyle/>
                    <a:p>
                      <a:r>
                        <a:rPr sz="975">
                          <a:solidFill>
                            <a:srgbClr val="212121"/>
                          </a:solidFill>
                          <a:latin typeface="Arial"/>
                          <a:ea typeface="Arial"/>
                          <a:cs typeface="Arial"/>
                        </a:rPr>
                        <a:t>100.00% / 100.00%</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MONK-2</a:t>
                      </a:r>
                    </a:p>
                  </a:txBody>
                  <a:tcPr marL="66675" marR="66675" marT="38100" marB="38100" anchor="ctr"/>
                </a:tc>
                <a:tc>
                  <a:txBody>
                    <a:bodyPr/>
                    <a:lstStyle/>
                    <a:p>
                      <a:r>
                        <a:rPr sz="975">
                          <a:solidFill>
                            <a:srgbClr val="212121"/>
                          </a:solidFill>
                          <a:latin typeface="Arial"/>
                          <a:ea typeface="Arial"/>
                          <a:cs typeface="Arial"/>
                        </a:rPr>
                        <a:t>8–16 ReLU; η=0.02976; λ=2.93×10⁻⁵; </a:t>
                      </a:r>
                      <a:r>
                        <a:rPr sz="975" b="0" i="0" u="none" cap="none">
                          <a:solidFill>
                            <a:srgbClr val="212121"/>
                          </a:solidFill>
                          <a:latin typeface="+mn-lt"/>
                          <a:ea typeface="+mn-lt"/>
                          <a:cs typeface="+mn-lt"/>
                        </a:rPr>
                        <a:t>μ = 0.9, </a:t>
                      </a:r>
                      <a:r>
                        <a:rPr sz="975">
                          <a:solidFill>
                            <a:srgbClr val="212121"/>
                          </a:solidFill>
                          <a:latin typeface="Arial"/>
                          <a:ea typeface="Arial"/>
                          <a:cs typeface="Arial"/>
                        </a:rPr>
                        <a:t>112 ep.</a:t>
                      </a:r>
                    </a:p>
                  </a:txBody>
                  <a:tcPr marL="66675" marR="66675" marT="38100" marB="38100" anchor="ctr"/>
                </a:tc>
                <a:tc>
                  <a:txBody>
                    <a:bodyPr/>
                    <a:lstStyle/>
                    <a:p>
                      <a:r>
                        <a:rPr sz="975">
                          <a:solidFill>
                            <a:srgbClr val="212121"/>
                          </a:solidFill>
                          <a:latin typeface="Arial"/>
                          <a:ea typeface="Arial"/>
                          <a:cs typeface="Arial"/>
                        </a:rPr>
                        <a:t>7.09×10⁻⁷ / 1.12×10⁻⁶</a:t>
                      </a:r>
                    </a:p>
                  </a:txBody>
                  <a:tcPr marL="66675" marR="66675" marT="38100" marB="38100" anchor="ctr"/>
                </a:tc>
                <a:tc>
                  <a:txBody>
                    <a:bodyPr/>
                    <a:lstStyle/>
                    <a:p>
                      <a:r>
                        <a:rPr sz="975">
                          <a:solidFill>
                            <a:srgbClr val="212121"/>
                          </a:solidFill>
                          <a:latin typeface="Arial"/>
                          <a:ea typeface="Arial"/>
                          <a:cs typeface="Arial"/>
                        </a:rPr>
                        <a:t>100.00% / 100.00%</a:t>
                      </a:r>
                    </a:p>
                  </a:txBody>
                  <a:tcPr marL="66675" marR="66675" marT="38100" marB="38100" anchor="ctr"/>
                </a:tc>
                <a:extLst>
                  <a:ext uri="{0D108BD9-81ED-4DB2-BD59-A6C34878D82A}">
                    <a16:rowId xmlns:a16="http://schemas.microsoft.com/office/drawing/2014/main" val="10002"/>
                  </a:ext>
                </a:extLst>
              </a:tr>
              <a:tr h="488156">
                <a:tc>
                  <a:txBody>
                    <a:bodyPr/>
                    <a:lstStyle/>
                    <a:p>
                      <a:r>
                        <a:rPr sz="975" b="1">
                          <a:solidFill>
                            <a:srgbClr val="212121"/>
                          </a:solidFill>
                          <a:latin typeface="Arial"/>
                          <a:ea typeface="Arial"/>
                          <a:cs typeface="Arial"/>
                        </a:rPr>
                        <a:t>MONK-3</a:t>
                      </a:r>
                    </a:p>
                  </a:txBody>
                  <a:tcPr marL="66675" marR="66675" marT="38100" marB="38100" anchor="ctr">
                    <a:solidFill>
                      <a:srgbClr val="E8F0FE"/>
                    </a:solidFill>
                  </a:tcPr>
                </a:tc>
                <a:tc>
                  <a:txBody>
                    <a:bodyPr/>
                    <a:lstStyle/>
                    <a:p>
                      <a:r>
                        <a:rPr sz="975">
                          <a:solidFill>
                            <a:srgbClr val="212121"/>
                          </a:solidFill>
                          <a:latin typeface="Arial"/>
                          <a:ea typeface="Arial"/>
                          <a:cs typeface="Arial"/>
                        </a:rPr>
                        <a:t>5 ReLU; η=0.02818; λ=0.05; </a:t>
                      </a:r>
                      <a:r>
                        <a:rPr sz="975" b="0" i="0" u="none" cap="none">
                          <a:solidFill>
                            <a:srgbClr val="212121"/>
                          </a:solidFill>
                          <a:latin typeface="+mn-lt"/>
                          <a:ea typeface="+mn-lt"/>
                          <a:cs typeface="+mn-lt"/>
                        </a:rPr>
                        <a:t>μ = 0.9, </a:t>
                      </a:r>
                      <a:r>
                        <a:rPr sz="975">
                          <a:solidFill>
                            <a:srgbClr val="212121"/>
                          </a:solidFill>
                          <a:latin typeface="Arial"/>
                          <a:ea typeface="Arial"/>
                          <a:cs typeface="Arial"/>
                        </a:rPr>
                        <a:t>23 ep.</a:t>
                      </a:r>
                    </a:p>
                  </a:txBody>
                  <a:tcPr marL="66675" marR="66675" marT="38100" marB="38100" anchor="ctr">
                    <a:solidFill>
                      <a:srgbClr val="E8F0FE"/>
                    </a:solidFill>
                  </a:tcPr>
                </a:tc>
                <a:tc>
                  <a:txBody>
                    <a:bodyPr/>
                    <a:lstStyle/>
                    <a:p>
                      <a:r>
                        <a:rPr sz="975">
                          <a:solidFill>
                            <a:srgbClr val="212121"/>
                          </a:solidFill>
                          <a:latin typeface="Arial"/>
                          <a:ea typeface="Arial"/>
                          <a:cs typeface="Arial"/>
                        </a:rPr>
                        <a:t>0.07232 / 0.06169</a:t>
                      </a:r>
                    </a:p>
                  </a:txBody>
                  <a:tcPr marL="66675" marR="66675" marT="38100" marB="38100" anchor="ctr">
                    <a:solidFill>
                      <a:srgbClr val="E8F0FE"/>
                    </a:solidFill>
                  </a:tcPr>
                </a:tc>
                <a:tc>
                  <a:txBody>
                    <a:bodyPr/>
                    <a:lstStyle/>
                    <a:p>
                      <a:r>
                        <a:rPr sz="975">
                          <a:solidFill>
                            <a:srgbClr val="212121"/>
                          </a:solidFill>
                          <a:latin typeface="Arial"/>
                          <a:ea typeface="Arial"/>
                          <a:cs typeface="Arial"/>
                        </a:rPr>
                        <a:t>93.44% / 97.22%</a:t>
                      </a:r>
                    </a:p>
                  </a:txBody>
                  <a:tcPr marL="66675" marR="66675" marT="38100" marB="38100" anchor="ctr">
                    <a:solidFill>
                      <a:srgbClr val="E8F0FE"/>
                    </a:solidFill>
                  </a:tcPr>
                </a:tc>
                <a:extLst>
                  <a:ext uri="{0D108BD9-81ED-4DB2-BD59-A6C34878D82A}">
                    <a16:rowId xmlns:a16="http://schemas.microsoft.com/office/drawing/2014/main" val="10003"/>
                  </a:ext>
                </a:extLst>
              </a:tr>
              <a:tr h="488156">
                <a:tc>
                  <a:txBody>
                    <a:bodyPr/>
                    <a:lstStyle/>
                    <a:p>
                      <a:r>
                        <a:rPr sz="975" b="1">
                          <a:solidFill>
                            <a:srgbClr val="212121"/>
                          </a:solidFill>
                          <a:latin typeface="Arial"/>
                          <a:ea typeface="Arial"/>
                          <a:cs typeface="Arial"/>
                        </a:rPr>
                        <a:t>MONK-3 no reg.</a:t>
                      </a:r>
                    </a:p>
                  </a:txBody>
                  <a:tcPr marL="66675" marR="66675" marT="38100" marB="38100" anchor="ctr">
                    <a:solidFill>
                      <a:srgbClr val="E8F0FE"/>
                    </a:solidFill>
                  </a:tcPr>
                </a:tc>
                <a:tc>
                  <a:txBody>
                    <a:bodyPr/>
                    <a:lstStyle/>
                    <a:p>
                      <a:r>
                        <a:rPr sz="975">
                          <a:solidFill>
                            <a:srgbClr val="212121"/>
                          </a:solidFill>
                          <a:latin typeface="Arial"/>
                          <a:ea typeface="Arial"/>
                          <a:cs typeface="Arial"/>
                        </a:rPr>
                        <a:t>5 ReLU; η=0.02818; λ=0; </a:t>
                      </a:r>
                      <a:r>
                        <a:rPr sz="975" b="0" i="0" u="none" cap="none">
                          <a:solidFill>
                            <a:srgbClr val="212121"/>
                          </a:solidFill>
                          <a:latin typeface="+mn-lt"/>
                          <a:ea typeface="+mn-lt"/>
                          <a:cs typeface="+mn-lt"/>
                        </a:rPr>
                        <a:t>μ = 0.9, </a:t>
                      </a:r>
                      <a:r>
                        <a:rPr sz="975">
                          <a:solidFill>
                            <a:srgbClr val="212121"/>
                          </a:solidFill>
                          <a:latin typeface="Arial"/>
                          <a:ea typeface="Arial"/>
                          <a:cs typeface="Arial"/>
                        </a:rPr>
                        <a:t>1000 ep.; no ES</a:t>
                      </a:r>
                    </a:p>
                  </a:txBody>
                  <a:tcPr marL="66675" marR="66675" marT="38100" marB="38100" anchor="ctr">
                    <a:solidFill>
                      <a:srgbClr val="E8F0FE"/>
                    </a:solidFill>
                  </a:tcPr>
                </a:tc>
                <a:tc>
                  <a:txBody>
                    <a:bodyPr/>
                    <a:lstStyle/>
                    <a:p>
                      <a:r>
                        <a:rPr sz="975">
                          <a:solidFill>
                            <a:srgbClr val="212121"/>
                          </a:solidFill>
                          <a:latin typeface="Arial"/>
                          <a:ea typeface="Arial"/>
                          <a:cs typeface="Arial"/>
                        </a:rPr>
                        <a:t>0.04934 / 0.02324</a:t>
                      </a:r>
                    </a:p>
                  </a:txBody>
                  <a:tcPr marL="66675" marR="66675" marT="38100" marB="38100" anchor="ctr">
                    <a:solidFill>
                      <a:srgbClr val="E8F0FE"/>
                    </a:solidFill>
                  </a:tcPr>
                </a:tc>
                <a:tc>
                  <a:txBody>
                    <a:bodyPr/>
                    <a:lstStyle/>
                    <a:p>
                      <a:r>
                        <a:rPr sz="975" dirty="0">
                          <a:solidFill>
                            <a:srgbClr val="212121"/>
                          </a:solidFill>
                          <a:latin typeface="Arial"/>
                          <a:ea typeface="Arial"/>
                          <a:cs typeface="Arial"/>
                        </a:rPr>
                        <a:t>9</a:t>
                      </a:r>
                      <a:r>
                        <a:rPr lang="it-IT" sz="975" dirty="0">
                          <a:solidFill>
                            <a:srgbClr val="212121"/>
                          </a:solidFill>
                          <a:latin typeface="Arial"/>
                          <a:ea typeface="Arial"/>
                          <a:cs typeface="Arial"/>
                        </a:rPr>
                        <a:t>7</a:t>
                      </a:r>
                      <a:r>
                        <a:rPr sz="975" dirty="0">
                          <a:solidFill>
                            <a:srgbClr val="212121"/>
                          </a:solidFill>
                          <a:latin typeface="Arial"/>
                          <a:ea typeface="Arial"/>
                          <a:cs typeface="Arial"/>
                        </a:rPr>
                        <a:t>.</a:t>
                      </a:r>
                      <a:r>
                        <a:rPr lang="it-IT" sz="975" dirty="0">
                          <a:solidFill>
                            <a:srgbClr val="212121"/>
                          </a:solidFill>
                          <a:latin typeface="Arial"/>
                          <a:ea typeface="Arial"/>
                          <a:cs typeface="Arial"/>
                        </a:rPr>
                        <a:t>5</a:t>
                      </a:r>
                      <a:r>
                        <a:rPr sz="975" dirty="0">
                          <a:solidFill>
                            <a:srgbClr val="212121"/>
                          </a:solidFill>
                          <a:latin typeface="Arial"/>
                          <a:ea typeface="Arial"/>
                          <a:cs typeface="Arial"/>
                        </a:rPr>
                        <a:t>4% / 9</a:t>
                      </a:r>
                      <a:r>
                        <a:rPr lang="it-IT" sz="975" dirty="0">
                          <a:solidFill>
                            <a:srgbClr val="212121"/>
                          </a:solidFill>
                          <a:latin typeface="Arial"/>
                          <a:ea typeface="Arial"/>
                          <a:cs typeface="Arial"/>
                        </a:rPr>
                        <a:t>4</a:t>
                      </a:r>
                      <a:r>
                        <a:rPr sz="975" dirty="0">
                          <a:solidFill>
                            <a:srgbClr val="212121"/>
                          </a:solidFill>
                          <a:latin typeface="Arial"/>
                          <a:ea typeface="Arial"/>
                          <a:cs typeface="Arial"/>
                        </a:rPr>
                        <a:t>.</a:t>
                      </a:r>
                      <a:r>
                        <a:rPr lang="it-IT" sz="975" dirty="0">
                          <a:solidFill>
                            <a:srgbClr val="212121"/>
                          </a:solidFill>
                          <a:latin typeface="Arial"/>
                          <a:ea typeface="Arial"/>
                          <a:cs typeface="Arial"/>
                        </a:rPr>
                        <a:t>44</a:t>
                      </a:r>
                      <a:r>
                        <a:rPr sz="975" dirty="0">
                          <a:solidFill>
                            <a:srgbClr val="212121"/>
                          </a:solidFill>
                          <a:latin typeface="Arial"/>
                          <a:ea typeface="Arial"/>
                          <a:cs typeface="Arial"/>
                        </a:rPr>
                        <a:t>%</a:t>
                      </a:r>
                    </a:p>
                  </a:txBody>
                  <a:tcPr marL="66675" marR="66675" marT="38100" marB="38100" anchor="ctr">
                    <a:solidFill>
                      <a:srgbClr val="E8F0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133;p23">
            <a:extLst>
              <a:ext uri="{FF2B5EF4-FFF2-40B4-BE49-F238E27FC236}">
                <a16:creationId xmlns:a16="http://schemas.microsoft.com/office/drawing/2014/main" id="{0E9774C2-2E85-361C-FEAB-A668F6B4A4D4}"/>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p>
            <a:pPr lvl="0">
              <a:buSzPct val="111111"/>
              <a:buNone/>
            </a:pPr>
            <a:r>
              <a:rPr sz="2500"/>
              <a:t>MONK NN results (1/2)</a:t>
            </a:r>
          </a:p>
        </p:txBody>
      </p:sp>
      <p:sp>
        <p:nvSpPr>
          <p:cNvPr id="134" name="Google Shape;134;p23">
            <a:extLst>
              <a:ext uri="{FF2B5EF4-FFF2-40B4-BE49-F238E27FC236}">
                <a16:creationId xmlns:a16="http://schemas.microsoft.com/office/drawing/2014/main" id="{909EF131-2BD3-195F-A3EC-24DE0CCD3876}"/>
              </a:ext>
            </a:extLst>
          </p:cNvPr>
          <p:cNvSpPr>
            <a:spLocks noGrp="1"/>
          </p:cNvSpPr>
          <p:nvPr>
            <p:ph type="body" idx="1"/>
          </p:nvPr>
        </p:nvSpPr>
        <p:spPr>
          <a:xfrm>
            <a:off x="311699" y="1006736"/>
            <a:ext cx="2765109" cy="1715448"/>
          </a:xfrm>
          <a:prstGeom prst="rect">
            <a:avLst/>
          </a:prstGeom>
          <a:noFill/>
          <a:ln>
            <a:noFill/>
          </a:ln>
        </p:spPr>
        <p:txBody>
          <a:bodyPr spcFirstLastPara="1" wrap="square" lIns="91425" tIns="91425" rIns="91425" bIns="91425" anchor="t">
            <a:noAutofit/>
          </a:bodyPr>
          <a:lstStyle/>
          <a:p>
            <a:pPr marL="0" lvl="0" indent="0">
              <a:buClr>
                <a:schemeClr val="dk1"/>
              </a:buClr>
              <a:buSzPts val="1100"/>
              <a:buNone/>
            </a:pPr>
            <a:r>
              <a:rPr sz="1300" b="1"/>
              <a:t>MONK-1</a:t>
            </a:r>
            <a:r>
              <a:rPr sz="1300"/>
              <a:t> 100% training and validation reaches accuracy, with both MSE curves converging smoothly. The hold-out curve selects epoch 520; the final model is refitted for 458 CV-median epochs, the median selected across CV folds.</a:t>
            </a:r>
            <a:endParaRPr sz="1300">
              <a:solidFill>
                <a:schemeClr val="dk1"/>
              </a:solidFill>
            </a:endParaRPr>
          </a:p>
        </p:txBody>
      </p:sp>
      <p:sp>
        <p:nvSpPr>
          <p:cNvPr id="135" name="Google Shape;135;p23">
            <a:extLst>
              <a:ext uri="{FF2B5EF4-FFF2-40B4-BE49-F238E27FC236}">
                <a16:creationId xmlns:a16="http://schemas.microsoft.com/office/drawing/2014/main" id="{45977B8D-11A5-9EDA-3542-794E50BC1D44}"/>
              </a:ext>
            </a:extLst>
          </p:cNvPr>
          <p:cNvSpPr>
            <a:spLocks noGrp="1"/>
          </p:cNvSpPr>
          <p:nvPr>
            <p:ph type="sldNum" idx="12"/>
          </p:nvPr>
        </p:nvSpPr>
        <p:spPr>
          <a:xfrm>
            <a:off x="8472458" y="4621652"/>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2DD23107-4986-8758-3A93-3D74F35908CC}" type="slidenum">
              <a:rPr/>
              <a:t>9</a:t>
            </a:fld>
            <a:endParaRPr/>
          </a:p>
        </p:txBody>
      </p:sp>
      <p:pic>
        <p:nvPicPr>
          <p:cNvPr id="143" name="Immagine 7"/>
          <p:cNvPicPr>
            <a:picLocks noChangeAspect="1"/>
          </p:cNvPicPr>
          <p:nvPr/>
        </p:nvPicPr>
        <p:blipFill>
          <a:blip r:embed="rId3"/>
          <a:stretch>
            <a:fillRect/>
          </a:stretch>
        </p:blipFill>
        <p:spPr>
          <a:xfrm>
            <a:off x="3059083" y="914270"/>
            <a:ext cx="2765108" cy="2062717"/>
          </a:xfrm>
          <a:prstGeom prst="rect">
            <a:avLst/>
          </a:prstGeom>
        </p:spPr>
      </p:pic>
      <p:pic>
        <p:nvPicPr>
          <p:cNvPr id="144" name="Immagine 3"/>
          <p:cNvPicPr>
            <a:picLocks noChangeAspect="1"/>
          </p:cNvPicPr>
          <p:nvPr/>
        </p:nvPicPr>
        <p:blipFill>
          <a:blip r:embed="rId4"/>
          <a:stretch>
            <a:fillRect/>
          </a:stretch>
        </p:blipFill>
        <p:spPr>
          <a:xfrm>
            <a:off x="3060000" y="2985288"/>
            <a:ext cx="2765109" cy="2062718"/>
          </a:xfrm>
          <a:prstGeom prst="rect">
            <a:avLst/>
          </a:prstGeom>
        </p:spPr>
      </p:pic>
      <p:sp>
        <p:nvSpPr>
          <p:cNvPr id="4" name="Google Shape;134;p23">
            <a:extLst>
              <a:ext uri="{FF2B5EF4-FFF2-40B4-BE49-F238E27FC236}">
                <a16:creationId xmlns:a16="http://schemas.microsoft.com/office/drawing/2014/main" id="{228FF584-E251-A2EA-9A7A-0E6FE3E06A50}"/>
              </a:ext>
            </a:extLst>
          </p:cNvPr>
          <p:cNvSpPr>
            <a:spLocks noGrp="1"/>
          </p:cNvSpPr>
          <p:nvPr/>
        </p:nvSpPr>
        <p:spPr>
          <a:xfrm>
            <a:off x="293974" y="3113578"/>
            <a:ext cx="2765109" cy="1508074"/>
          </a:xfrm>
          <a:prstGeom prst="rect">
            <a:avLst/>
          </a:prstGeom>
          <a:noFill/>
          <a:ln>
            <a:noFill/>
          </a:ln>
        </p:spPr>
        <p:txBody>
          <a:bodyPr spcFirstLastPara="1" wrap="square" lIns="91425" tIns="91425" rIns="91425" bIns="91425" anchor="t">
            <a:noAutofit/>
          </a:bodyPr>
          <a:lstStyle>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a:pPr marL="0" lvl="0" indent="0">
              <a:buClr>
                <a:schemeClr val="dk1"/>
              </a:buClr>
              <a:buSzPts val="1100"/>
              <a:buNone/>
            </a:pPr>
            <a:r>
              <a:rPr sz="1300" b="1"/>
              <a:t>MONK-2</a:t>
            </a:r>
            <a:r>
              <a:rPr sz="1300"/>
              <a:t> rapidly reaches 100% training and validation accuracy, while the closely aligned MSE curves converge near zero. The hold-out curve selects epoch 87; the final refit uses 112 CV-median epochs.</a:t>
            </a:r>
            <a:endParaRPr sz="1300">
              <a:solidFill>
                <a:schemeClr val="dk1"/>
              </a:solidFill>
            </a:endParaRPr>
          </a:p>
        </p:txBody>
      </p:sp>
      <p:sp>
        <p:nvSpPr>
          <p:cNvPr id="2" name="Connettore dritto 1">
            <a:extLst>
              <a:ext uri="{FF2B5EF4-FFF2-40B4-BE49-F238E27FC236}">
                <a16:creationId xmlns:a16="http://schemas.microsoft.com/office/drawing/2014/main" id="{E35B5E5F-4EEE-4F34-88EE-FCAF95010FEA}"/>
              </a:ext>
            </a:extLst>
          </p:cNvPr>
          <p:cNvSpPr>
            <a:spLocks noGrp="1"/>
          </p:cNvSpPr>
          <p:nvPr/>
        </p:nvSpPr>
        <p:spPr>
          <a:xfrm>
            <a:off x="606828" y="2977722"/>
            <a:ext cx="7855527" cy="0"/>
          </a:xfrm>
          <a:prstGeom prst="line">
            <a:avLst/>
          </a:prstGeom>
        </p:spPr>
        <p:style>
          <a:lnRef idx="1">
            <a:schemeClr val="accent2"/>
          </a:lnRef>
          <a:fillRef idx="0">
            <a:schemeClr val="accent2"/>
          </a:fillRef>
          <a:effectRef idx="0">
            <a:schemeClr val="accent2"/>
          </a:effectRef>
          <a:fontRef idx="minor">
            <a:schemeClr val="tx1"/>
          </a:fontRef>
        </p:style>
        <p:txBody>
          <a:bodyPr/>
          <a:lstStyle/>
          <a:p>
            <a:endParaRPr/>
          </a:p>
        </p:txBody>
      </p:sp>
      <p:pic>
        <p:nvPicPr>
          <p:cNvPr id="147" name="Immagine 2"/>
          <p:cNvPicPr>
            <a:picLocks noChangeAspect="1"/>
          </p:cNvPicPr>
          <p:nvPr/>
        </p:nvPicPr>
        <p:blipFill>
          <a:blip r:embed="rId5"/>
          <a:stretch>
            <a:fillRect/>
          </a:stretch>
        </p:blipFill>
        <p:spPr>
          <a:xfrm>
            <a:off x="5889600" y="904126"/>
            <a:ext cx="2765219" cy="2062800"/>
          </a:xfrm>
          <a:prstGeom prst="rect">
            <a:avLst/>
          </a:prstGeom>
        </p:spPr>
      </p:pic>
      <p:pic>
        <p:nvPicPr>
          <p:cNvPr id="148" name="Immagine 2"/>
          <p:cNvPicPr>
            <a:picLocks noChangeAspect="1"/>
          </p:cNvPicPr>
          <p:nvPr/>
        </p:nvPicPr>
        <p:blipFill>
          <a:blip r:embed="rId6"/>
          <a:stretch>
            <a:fillRect/>
          </a:stretch>
        </p:blipFill>
        <p:spPr>
          <a:xfrm>
            <a:off x="5889600" y="2984400"/>
            <a:ext cx="2765219" cy="2062800"/>
          </a:xfrm>
          <a:prstGeom prst="rect">
            <a:avLst/>
          </a:prstGeom>
        </p:spPr>
      </p:pic>
    </p:spTree>
    <p:extLst>
      <p:ext uri="{BB962C8B-B14F-4D97-AF65-F5344CB8AC3E}">
        <p14:creationId xmlns:p14="http://schemas.microsoft.com/office/powerpoint/2010/main" val="1621046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133;p23">
            <a:extLst>
              <a:ext uri="{FF2B5EF4-FFF2-40B4-BE49-F238E27FC236}">
                <a16:creationId xmlns:a16="http://schemas.microsoft.com/office/drawing/2014/main" id="{F989FA39-9C07-1AEB-22E7-AAEE5040D8D3}"/>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lvl="0">
              <a:buSzPct val="111111"/>
              <a:buNone/>
            </a:pPr>
            <a:r>
              <a:rPr sz="2500"/>
              <a:t>MONK NN results (2/2)</a:t>
            </a:r>
          </a:p>
        </p:txBody>
      </p:sp>
      <p:sp>
        <p:nvSpPr>
          <p:cNvPr id="135" name="Google Shape;135;p23">
            <a:extLst>
              <a:ext uri="{FF2B5EF4-FFF2-40B4-BE49-F238E27FC236}">
                <a16:creationId xmlns:a16="http://schemas.microsoft.com/office/drawing/2014/main" id="{5D7DE404-D849-669F-0A81-63A423C2EEA8}"/>
              </a:ext>
            </a:extLst>
          </p:cNvPr>
          <p:cNvSpPr>
            <a:spLocks noGrp="1"/>
          </p:cNvSpPr>
          <p:nvPr>
            <p:ph type="sldNum" idx="12"/>
          </p:nvPr>
        </p:nvSpPr>
        <p:spPr>
          <a:xfrm>
            <a:off x="8472458" y="4621652"/>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327921A4-25C4-3DB4-06B1-32693CEE2241}" type="slidenum">
              <a:rPr/>
              <a:t>10</a:t>
            </a:fld>
            <a:endParaRPr/>
          </a:p>
        </p:txBody>
      </p:sp>
      <p:sp>
        <p:nvSpPr>
          <p:cNvPr id="2" name="Google Shape;134;p23">
            <a:extLst>
              <a:ext uri="{FF2B5EF4-FFF2-40B4-BE49-F238E27FC236}">
                <a16:creationId xmlns:a16="http://schemas.microsoft.com/office/drawing/2014/main" id="{4AFD31DD-564F-26B2-220D-57B789C84B03}"/>
              </a:ext>
            </a:extLst>
          </p:cNvPr>
          <p:cNvSpPr>
            <a:spLocks noGrp="1"/>
          </p:cNvSpPr>
          <p:nvPr/>
        </p:nvSpPr>
        <p:spPr>
          <a:xfrm>
            <a:off x="311699" y="1047832"/>
            <a:ext cx="2765109" cy="1715448"/>
          </a:xfrm>
          <a:prstGeom prst="rect">
            <a:avLst/>
          </a:prstGeom>
          <a:noFill/>
          <a:ln>
            <a:noFill/>
          </a:ln>
        </p:spPr>
        <p:txBody>
          <a:bodyPr spcFirstLastPara="1" wrap="square" lIns="91425" tIns="91425" rIns="91425" bIns="91425" anchor="t">
            <a:noAutofit/>
          </a:bodyPr>
          <a:lstStyle>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a:pPr marL="0" lvl="0" indent="0">
              <a:buClr>
                <a:schemeClr val="dk1"/>
              </a:buClr>
              <a:buSzPts val="1100"/>
              <a:buNone/>
            </a:pPr>
            <a:r>
              <a:rPr sz="1300" b="1" dirty="0"/>
              <a:t>MONK-3 </a:t>
            </a:r>
            <a:r>
              <a:rPr sz="1300" dirty="0"/>
              <a:t>Regularization controls overfitting: hold-out validation MSE is minimized at epoch 25</a:t>
            </a:r>
            <a:r>
              <a:rPr lang="it-IT" sz="1300" dirty="0"/>
              <a:t> </a:t>
            </a:r>
            <a:r>
              <a:rPr lang="it-IT" sz="1300" dirty="0" err="1"/>
              <a:t>where</a:t>
            </a:r>
            <a:r>
              <a:rPr lang="it-IT" sz="1300" dirty="0"/>
              <a:t> a model snapshot </a:t>
            </a:r>
            <a:r>
              <a:rPr lang="it-IT" sz="1300" dirty="0" err="1"/>
              <a:t>is</a:t>
            </a:r>
            <a:r>
              <a:rPr lang="it-IT" sz="1300" dirty="0"/>
              <a:t> </a:t>
            </a:r>
            <a:r>
              <a:rPr lang="it-IT" sz="1300" dirty="0" err="1"/>
              <a:t>taken</a:t>
            </a:r>
            <a:r>
              <a:rPr sz="1300" dirty="0"/>
              <a:t>. The final refit reaches 97% test accuracy.</a:t>
            </a:r>
            <a:endParaRPr sz="1300" dirty="0">
              <a:solidFill>
                <a:schemeClr val="dk1"/>
              </a:solidFill>
            </a:endParaRPr>
          </a:p>
        </p:txBody>
      </p:sp>
      <p:sp>
        <p:nvSpPr>
          <p:cNvPr id="5" name="Google Shape;134;p23">
            <a:extLst>
              <a:ext uri="{FF2B5EF4-FFF2-40B4-BE49-F238E27FC236}">
                <a16:creationId xmlns:a16="http://schemas.microsoft.com/office/drawing/2014/main" id="{9311B2C7-CE7B-F477-6899-40EDB1ADB6E2}"/>
              </a:ext>
            </a:extLst>
          </p:cNvPr>
          <p:cNvSpPr>
            <a:spLocks noGrp="1"/>
          </p:cNvSpPr>
          <p:nvPr/>
        </p:nvSpPr>
        <p:spPr>
          <a:xfrm>
            <a:off x="311699" y="3103004"/>
            <a:ext cx="2765109" cy="1715448"/>
          </a:xfrm>
          <a:prstGeom prst="rect">
            <a:avLst/>
          </a:prstGeom>
          <a:noFill/>
          <a:ln>
            <a:noFill/>
          </a:ln>
        </p:spPr>
        <p:txBody>
          <a:bodyPr spcFirstLastPara="1" wrap="square" lIns="91425" tIns="91425" rIns="91425" bIns="91425" anchor="t">
            <a:noAutofit/>
          </a:bodyPr>
          <a:lstStyle>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a:pPr marL="0" indent="0">
              <a:buClr>
                <a:schemeClr val="dk1"/>
              </a:buClr>
              <a:buSzPts val="1100"/>
              <a:buNone/>
            </a:pPr>
            <a:r>
              <a:rPr sz="1300" b="1"/>
              <a:t>MONK-3 </a:t>
            </a:r>
            <a:r>
              <a:rPr sz="1300"/>
              <a:t>Without early stopping and weight decay, training MSE keeps falling while validation MSE rises with a consistent gap trough remaining epochs. The final refit reach 94% test accuracy.</a:t>
            </a:r>
            <a:endParaRPr sz="1300">
              <a:solidFill>
                <a:schemeClr val="dk1"/>
              </a:solidFill>
            </a:endParaRPr>
          </a:p>
          <a:p>
            <a:pPr marL="0" lvl="0" indent="0">
              <a:spcBef>
                <a:spcPts val="1200"/>
              </a:spcBef>
              <a:buClr>
                <a:schemeClr val="dk1"/>
              </a:buClr>
              <a:buSzPts val="1100"/>
              <a:buNone/>
            </a:pPr>
            <a:endParaRPr sz="1200">
              <a:solidFill>
                <a:schemeClr val="dk1"/>
              </a:solidFill>
            </a:endParaRPr>
          </a:p>
        </p:txBody>
      </p:sp>
      <p:sp>
        <p:nvSpPr>
          <p:cNvPr id="7" name="Connettore dritto 6">
            <a:extLst>
              <a:ext uri="{FF2B5EF4-FFF2-40B4-BE49-F238E27FC236}">
                <a16:creationId xmlns:a16="http://schemas.microsoft.com/office/drawing/2014/main" id="{76D4B4BD-AE28-470A-8951-C341A94FBA24}"/>
              </a:ext>
            </a:extLst>
          </p:cNvPr>
          <p:cNvSpPr>
            <a:spLocks noGrp="1"/>
          </p:cNvSpPr>
          <p:nvPr/>
        </p:nvSpPr>
        <p:spPr>
          <a:xfrm>
            <a:off x="606828" y="2977722"/>
            <a:ext cx="7855527" cy="0"/>
          </a:xfrm>
          <a:prstGeom prst="line">
            <a:avLst/>
          </a:prstGeom>
        </p:spPr>
        <p:style>
          <a:lnRef idx="1">
            <a:schemeClr val="accent2"/>
          </a:lnRef>
          <a:fillRef idx="0">
            <a:schemeClr val="accent2"/>
          </a:fillRef>
          <a:effectRef idx="0">
            <a:schemeClr val="accent2"/>
          </a:effectRef>
          <a:fontRef idx="minor">
            <a:schemeClr val="tx1"/>
          </a:fontRef>
        </p:style>
        <p:txBody>
          <a:bodyPr/>
          <a:lstStyle/>
          <a:p>
            <a:endParaRPr/>
          </a:p>
        </p:txBody>
      </p:sp>
      <p:pic>
        <p:nvPicPr>
          <p:cNvPr id="145" name="Immagine 2"/>
          <p:cNvPicPr>
            <a:picLocks noChangeAspect="1"/>
          </p:cNvPicPr>
          <p:nvPr/>
        </p:nvPicPr>
        <p:blipFill>
          <a:blip r:embed="rId3"/>
          <a:stretch>
            <a:fillRect/>
          </a:stretch>
        </p:blipFill>
        <p:spPr>
          <a:xfrm>
            <a:off x="5867157" y="902527"/>
            <a:ext cx="2769666" cy="2062801"/>
          </a:xfrm>
          <a:prstGeom prst="rect">
            <a:avLst/>
          </a:prstGeom>
        </p:spPr>
      </p:pic>
      <p:pic>
        <p:nvPicPr>
          <p:cNvPr id="146" name="Immagine 3"/>
          <p:cNvPicPr>
            <a:picLocks noChangeAspect="1"/>
          </p:cNvPicPr>
          <p:nvPr/>
        </p:nvPicPr>
        <p:blipFill>
          <a:blip r:embed="rId4"/>
          <a:stretch>
            <a:fillRect/>
          </a:stretch>
        </p:blipFill>
        <p:spPr>
          <a:xfrm>
            <a:off x="3044861" y="904648"/>
            <a:ext cx="2769665" cy="2062800"/>
          </a:xfrm>
          <a:prstGeom prst="rect">
            <a:avLst/>
          </a:prstGeom>
        </p:spPr>
      </p:pic>
      <p:pic>
        <p:nvPicPr>
          <p:cNvPr id="147" name="Immagine 5"/>
          <p:cNvPicPr>
            <a:picLocks noChangeAspect="1"/>
          </p:cNvPicPr>
          <p:nvPr/>
        </p:nvPicPr>
        <p:blipFill>
          <a:blip r:embed="rId5"/>
          <a:stretch>
            <a:fillRect/>
          </a:stretch>
        </p:blipFill>
        <p:spPr>
          <a:xfrm>
            <a:off x="3045600" y="3007829"/>
            <a:ext cx="2768400" cy="2061858"/>
          </a:xfrm>
          <a:prstGeom prst="rect">
            <a:avLst/>
          </a:prstGeom>
        </p:spPr>
      </p:pic>
      <p:pic>
        <p:nvPicPr>
          <p:cNvPr id="148" name="Immagine 7"/>
          <p:cNvPicPr>
            <a:picLocks noChangeAspect="1"/>
          </p:cNvPicPr>
          <p:nvPr/>
        </p:nvPicPr>
        <p:blipFill>
          <a:blip r:embed="rId6"/>
          <a:stretch>
            <a:fillRect/>
          </a:stretch>
        </p:blipFill>
        <p:spPr>
          <a:xfrm>
            <a:off x="5830084" y="3007829"/>
            <a:ext cx="2768400" cy="2061858"/>
          </a:xfrm>
          <a:prstGeom prst="rect">
            <a:avLst/>
          </a:prstGeom>
        </p:spPr>
      </p:pic>
    </p:spTree>
    <p:extLst>
      <p:ext uri="{BB962C8B-B14F-4D97-AF65-F5344CB8AC3E}">
        <p14:creationId xmlns:p14="http://schemas.microsoft.com/office/powerpoint/2010/main" val="268194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Google Shape;112;p20">
            <a:extLst>
              <a:ext uri="{FF2B5EF4-FFF2-40B4-BE49-F238E27FC236}">
                <a16:creationId xmlns:a16="http://schemas.microsoft.com/office/drawing/2014/main" id="{C28BAD20-0530-4DE1-B8CD-73B311645ED3}"/>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lvl="0">
              <a:buSzPct val="39285"/>
              <a:buNone/>
            </a:pPr>
            <a:r>
              <a:t>CUP validation leakage controls</a:t>
            </a:r>
          </a:p>
        </p:txBody>
      </p:sp>
      <p:sp>
        <p:nvSpPr>
          <p:cNvPr id="113" name="Google Shape;113;p20">
            <a:extLst>
              <a:ext uri="{FF2B5EF4-FFF2-40B4-BE49-F238E27FC236}">
                <a16:creationId xmlns:a16="http://schemas.microsoft.com/office/drawing/2014/main" id="{85410FC8-94FA-495C-97B4-694B396C64B3}"/>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114300" indent="0">
              <a:buNone/>
            </a:pPr>
            <a:r>
              <a:rPr sz="1400"/>
              <a:t>The following controls preserve the independence of model selection, internal assessment and blind-test prediction on CUP assignment:</a:t>
            </a:r>
          </a:p>
          <a:p>
            <a:pPr lvl="0">
              <a:buSzPct val="100000"/>
              <a:buFont typeface="Wingdings"/>
              <a:buChar char="§"/>
            </a:pPr>
            <a:r>
              <a:rPr sz="1300" b="1"/>
              <a:t>Split isolation:</a:t>
            </a:r>
            <a:r>
              <a:rPr sz="1300"/>
              <a:t> the 100-case internal test is separated before model selection and remains untouched until the final assessment, i.e. with frozen configuration.</a:t>
            </a:r>
          </a:p>
          <a:p>
            <a:pPr lvl="0">
              <a:buSzPct val="100000"/>
              <a:buFont typeface="Wingdings"/>
              <a:buChar char="§"/>
            </a:pPr>
            <a:r>
              <a:rPr sz="1300" b="1"/>
              <a:t>Fold-local preprocessing:</a:t>
            </a:r>
            <a:r>
              <a:rPr sz="1300"/>
              <a:t> scalers and other preprocessing operations are fitted exclusively on the training portion of each fold natively by scikit-learn and custom implemented by functions built on top of PyTorch.</a:t>
            </a:r>
          </a:p>
          <a:p>
            <a:pPr lvl="0">
              <a:buSzPct val="100000"/>
              <a:buFont typeface="Wingdings"/>
              <a:buChar char="§"/>
            </a:pPr>
            <a:r>
              <a:rPr sz="1300" b="1"/>
              <a:t>Strict OOF predictions:</a:t>
            </a:r>
            <a:r>
              <a:rPr sz="1300"/>
              <a:t> every OOF prediction is produced by a model that was not trained on the corresponding example.</a:t>
            </a:r>
          </a:p>
          <a:p>
            <a:pPr lvl="0">
              <a:buSzPct val="100000"/>
              <a:buFont typeface="Wingdings"/>
              <a:buChar char="§"/>
            </a:pPr>
            <a:r>
              <a:rPr sz="1300" b="1"/>
              <a:t>Training-only optimization:</a:t>
            </a:r>
            <a:r>
              <a:rPr sz="1300"/>
              <a:t> hyperparameters and ensemble weights are selected exclusively using development-set cross-validation and OOF predictions.</a:t>
            </a:r>
          </a:p>
          <a:p>
            <a:pPr lvl="0">
              <a:buSzPct val="100000"/>
              <a:buFont typeface="Wingdings"/>
              <a:buChar char="§"/>
            </a:pPr>
            <a:r>
              <a:rPr sz="1300" b="1"/>
              <a:t>Frozen assessment:</a:t>
            </a:r>
            <a:r>
              <a:rPr sz="1300"/>
              <a:t> configurations and ensemble weights are fixed before the internal test is evaluated.</a:t>
            </a:r>
          </a:p>
          <a:p>
            <a:pPr lvl="0">
              <a:buSzPct val="100000"/>
              <a:buFont typeface="Wingdings"/>
              <a:buChar char="§"/>
            </a:pPr>
            <a:r>
              <a:rPr sz="1300" b="1"/>
              <a:t>Blind-test isolation:</a:t>
            </a:r>
            <a:r>
              <a:rPr sz="1300"/>
              <a:t> the 1,000 blind examples are never used for preprocessing, model selection, weight optimization or performance estimation.</a:t>
            </a:r>
          </a:p>
          <a:p>
            <a:pPr lvl="0">
              <a:buSzPct val="100000"/>
              <a:buFont typeface="Wingdings"/>
              <a:buChar char="§"/>
            </a:pPr>
            <a:r>
              <a:rPr sz="1400" b="1"/>
              <a:t>Bootstrap uncertainty:</a:t>
            </a:r>
            <a:r>
              <a:rPr sz="1400"/>
              <a:t> bootstrap resampling is applied only after all model choices have been frozen, providing an estimate of the variance and confidence interval of the final internal-test MEE without influencing model selection.</a:t>
            </a:r>
            <a:endParaRPr sz="1300"/>
          </a:p>
        </p:txBody>
      </p:sp>
      <p:sp>
        <p:nvSpPr>
          <p:cNvPr id="114" name="Google Shape;114;p20">
            <a:extLst>
              <a:ext uri="{FF2B5EF4-FFF2-40B4-BE49-F238E27FC236}">
                <a16:creationId xmlns:a16="http://schemas.microsoft.com/office/drawing/2014/main" id="{8F3E42B9-C104-44BC-988F-457E097C4B5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B1C6C81E-38B9-7560-621D-5A151A79DF9B}" type="slidenum">
              <a:t>11</a:t>
            </a:fld>
            <a:endParaRPr/>
          </a:p>
        </p:txBody>
      </p:sp>
    </p:spTree>
    <p:extLst>
      <p:ext uri="{BB962C8B-B14F-4D97-AF65-F5344CB8AC3E}">
        <p14:creationId xmlns:p14="http://schemas.microsoft.com/office/powerpoint/2010/main" val="232833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613108"/>
          </a:xfrm>
          <a:prstGeom prst="rect">
            <a:avLst/>
          </a:prstGeom>
          <a:noFill/>
          <a:ln>
            <a:noFill/>
          </a:ln>
        </p:spPr>
        <p:txBody>
          <a:bodyPr spcFirstLastPara="1" wrap="square" lIns="91425" tIns="91425" rIns="91425" bIns="91425" anchor="t">
            <a:noAutofit/>
          </a:bodyPr>
          <a:lstStyle/>
          <a:p>
            <a:pPr lvl="0">
              <a:buSzPct val="39285"/>
              <a:buNone/>
            </a:pPr>
            <a:r>
              <a:rPr sz="2500"/>
              <a:t>CUP model-selection — search space definition</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58133"/>
            <a:ext cx="8520600" cy="3416400"/>
          </a:xfrm>
          <a:prstGeom prst="rect">
            <a:avLst/>
          </a:prstGeom>
          <a:noFill/>
          <a:ln>
            <a:noFill/>
          </a:ln>
        </p:spPr>
        <p:txBody>
          <a:bodyPr spcFirstLastPara="1" wrap="square" lIns="91425" tIns="91425" rIns="91425" bIns="91425" anchor="t">
            <a:normAutofit/>
          </a:bodyPr>
          <a:lstStyle/>
          <a:p>
            <a:pPr marL="0" lvl="0" indent="0" algn="l">
              <a:lnSpc>
                <a:spcPct val="115000"/>
              </a:lnSpc>
              <a:spcBef>
                <a:spcPts val="0"/>
              </a:spcBef>
              <a:spcAft>
                <a:spcPts val="1200"/>
              </a:spcAft>
              <a:buSzPts val="1800"/>
              <a:buNone/>
            </a:pPr>
            <a:r>
              <a:rPr sz="1400"/>
              <a:t>All searches use only the 400-case development set. Scikit-learn configurations are selected by five-fold GridSearchCV while nested 5×3-fold CV is used as a less biased performance check. The NN search is organized as sequential Optuna studies eventually verified on the cup_NN_manual.ipynb with a combination of configuration – seed to explore metric consistency.</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CCF91274-D221-1BB4-3BF9-836E3AD31EBE}" type="slidenum">
              <a:rPr/>
              <a:t>12</a:t>
            </a:fld>
            <a:endParaRPr/>
          </a:p>
        </p:txBody>
      </p:sp>
      <p:graphicFrame>
        <p:nvGraphicFramePr>
          <p:cNvPr id="104" name="Tabella 103"/>
          <p:cNvGraphicFramePr/>
          <p:nvPr/>
        </p:nvGraphicFramePr>
        <p:xfrm>
          <a:off x="781050" y="2247900"/>
          <a:ext cx="7581900" cy="2508408"/>
        </p:xfrm>
        <a:graphic>
          <a:graphicData uri="http://schemas.openxmlformats.org/drawingml/2006/table">
            <a:tbl>
              <a:tblPr/>
              <a:tblGrid>
                <a:gridCol w="839932">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183303">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Model</a:t>
                      </a:r>
                    </a:p>
                  </a:txBody>
                  <a:tcPr marL="66675" marR="66675" marT="38100" marB="38100" anchor="ctr">
                    <a:solidFill>
                      <a:srgbClr val="4285F4"/>
                    </a:solidFill>
                  </a:tcPr>
                </a:tc>
                <a:tc>
                  <a:txBody>
                    <a:bodyPr/>
                    <a:lstStyle/>
                    <a:p>
                      <a:r>
                        <a:rPr sz="900" b="1">
                          <a:solidFill>
                            <a:srgbClr val="FFFFFF"/>
                          </a:solidFill>
                          <a:latin typeface="Arial"/>
                          <a:ea typeface="Arial"/>
                          <a:cs typeface="Arial"/>
                        </a:rPr>
                        <a:t>Search and validation</a:t>
                      </a:r>
                    </a:p>
                  </a:txBody>
                  <a:tcPr marL="66675" marR="66675" marT="38100" marB="38100" anchor="ctr">
                    <a:solidFill>
                      <a:srgbClr val="4285F4"/>
                    </a:solidFill>
                  </a:tcPr>
                </a:tc>
                <a:tc>
                  <a:txBody>
                    <a:bodyPr/>
                    <a:lstStyle/>
                    <a:p>
                      <a:r>
                        <a:rPr sz="900" b="1">
                          <a:solidFill>
                            <a:srgbClr val="FFFFFF"/>
                          </a:solidFill>
                          <a:latin typeface="Arial"/>
                          <a:ea typeface="Arial"/>
                          <a:cs typeface="Arial"/>
                        </a:rPr>
                        <a:t>Explored hyperparameters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Evaluations and criterion</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KNN</a:t>
                      </a:r>
                    </a:p>
                  </a:txBody>
                  <a:tcPr marL="66675" marR="66675" marT="38100" marB="38100" anchor="ctr"/>
                </a:tc>
                <a:tc>
                  <a:txBody>
                    <a:bodyPr/>
                    <a:lstStyle/>
                    <a:p>
                      <a:r>
                        <a:rPr sz="975">
                          <a:solidFill>
                            <a:srgbClr val="212121"/>
                          </a:solidFill>
                          <a:latin typeface="Arial"/>
                          <a:ea typeface="Arial"/>
                          <a:cs typeface="Arial"/>
                        </a:rPr>
                        <a:t>5-fold GridSearchCV; nested 5×3 check</a:t>
                      </a:r>
                    </a:p>
                  </a:txBody>
                  <a:tcPr marL="66675" marR="66675" marT="38100" marB="38100" anchor="ctr"/>
                </a:tc>
                <a:tc>
                  <a:txBody>
                    <a:bodyPr/>
                    <a:lstStyle/>
                    <a:p>
                      <a:r>
                        <a:rPr sz="975">
                          <a:solidFill>
                            <a:srgbClr val="212121"/>
                          </a:solidFill>
                          <a:latin typeface="Arial"/>
                          <a:ea typeface="Arial"/>
                          <a:cs typeface="Arial"/>
                        </a:rPr>
                        <a:t>k=1–39 odd; p={1,2}; uniform; Standard/Robust scaling</a:t>
                      </a:r>
                    </a:p>
                  </a:txBody>
                  <a:tcPr marL="66675" marR="66675" marT="38100" marB="38100" anchor="ctr"/>
                </a:tc>
                <a:tc>
                  <a:txBody>
                    <a:bodyPr/>
                    <a:lstStyle/>
                    <a:p>
                      <a:r>
                        <a:rPr sz="975">
                          <a:solidFill>
                            <a:srgbClr val="212121"/>
                          </a:solidFill>
                          <a:latin typeface="Arial"/>
                          <a:ea typeface="Arial"/>
                          <a:cs typeface="Arial"/>
                        </a:rPr>
                        <a:t>80 configurations; min. mean CV MEE</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SVR</a:t>
                      </a:r>
                    </a:p>
                  </a:txBody>
                  <a:tcPr marL="66675" marR="66675" marT="38100" marB="38100" anchor="ctr"/>
                </a:tc>
                <a:tc>
                  <a:txBody>
                    <a:bodyPr/>
                    <a:lstStyle/>
                    <a:p>
                      <a:r>
                        <a:rPr sz="975">
                          <a:solidFill>
                            <a:srgbClr val="212121"/>
                          </a:solidFill>
                          <a:latin typeface="Arial"/>
                          <a:ea typeface="Arial"/>
                          <a:cs typeface="Arial"/>
                        </a:rPr>
                        <a:t>5-fold GridSearchCV; nested 5×3 check</a:t>
                      </a:r>
                    </a:p>
                  </a:txBody>
                  <a:tcPr marL="66675" marR="66675" marT="38100" marB="38100" anchor="ctr"/>
                </a:tc>
                <a:tc>
                  <a:txBody>
                    <a:bodyPr/>
                    <a:lstStyle/>
                    <a:p>
                      <a:r>
                        <a:rPr sz="975">
                          <a:solidFill>
                            <a:srgbClr val="212121"/>
                          </a:solidFill>
                          <a:latin typeface="Arial"/>
                          <a:ea typeface="Arial"/>
                          <a:cs typeface="Arial"/>
                        </a:rPr>
                        <a:t>Custom RBF/RBF/poly.; C=10⁻²–10⁴; γ=10⁻⁴–3/scale; ε=.01–.8; degree 2–3</a:t>
                      </a:r>
                    </a:p>
                  </a:txBody>
                  <a:tcPr marL="66675" marR="66675" marT="38100" marB="38100" anchor="ctr"/>
                </a:tc>
                <a:tc>
                  <a:txBody>
                    <a:bodyPr/>
                    <a:lstStyle/>
                    <a:p>
                      <a:r>
                        <a:rPr sz="975">
                          <a:solidFill>
                            <a:srgbClr val="212121"/>
                          </a:solidFill>
                          <a:latin typeface="Arial"/>
                          <a:ea typeface="Arial"/>
                          <a:cs typeface="Arial"/>
                        </a:rPr>
                        <a:t>348 configurations; min. mean CV MEE</a:t>
                      </a:r>
                    </a:p>
                  </a:txBody>
                  <a:tcPr marL="66675" marR="66675" marT="38100" marB="38100" anchor="ctr"/>
                </a:tc>
                <a:extLst>
                  <a:ext uri="{0D108BD9-81ED-4DB2-BD59-A6C34878D82A}">
                    <a16:rowId xmlns:a16="http://schemas.microsoft.com/office/drawing/2014/main" val="10002"/>
                  </a:ext>
                </a:extLst>
              </a:tr>
              <a:tr h="488156">
                <a:tc>
                  <a:txBody>
                    <a:bodyPr/>
                    <a:lstStyle/>
                    <a:p>
                      <a:r>
                        <a:rPr sz="975" b="1">
                          <a:solidFill>
                            <a:srgbClr val="212121"/>
                          </a:solidFill>
                          <a:latin typeface="Arial"/>
                          <a:ea typeface="Arial"/>
                          <a:cs typeface="Arial"/>
                        </a:rPr>
                        <a:t>LinearSVR</a:t>
                      </a:r>
                    </a:p>
                  </a:txBody>
                  <a:tcPr marL="66675" marR="66675" marT="38100" marB="38100" anchor="ctr">
                    <a:solidFill>
                      <a:srgbClr val="E8F0FE"/>
                    </a:solidFill>
                  </a:tcPr>
                </a:tc>
                <a:tc>
                  <a:txBody>
                    <a:bodyPr/>
                    <a:lstStyle/>
                    <a:p>
                      <a:r>
                        <a:rPr sz="975">
                          <a:solidFill>
                            <a:srgbClr val="212121"/>
                          </a:solidFill>
                          <a:latin typeface="Arial"/>
                          <a:ea typeface="Arial"/>
                          <a:cs typeface="Arial"/>
                        </a:rPr>
                        <a:t>5-fold GridSearchCV; nested 5×3 check</a:t>
                      </a:r>
                    </a:p>
                  </a:txBody>
                  <a:tcPr marL="66675" marR="66675" marT="38100" marB="38100" anchor="ctr">
                    <a:solidFill>
                      <a:srgbClr val="E8F0FE"/>
                    </a:solidFill>
                  </a:tcPr>
                </a:tc>
                <a:tc>
                  <a:txBody>
                    <a:bodyPr/>
                    <a:lstStyle/>
                    <a:p>
                      <a:r>
                        <a:rPr sz="975">
                          <a:solidFill>
                            <a:srgbClr val="212121"/>
                          </a:solidFill>
                          <a:latin typeface="Arial"/>
                          <a:ea typeface="Arial"/>
                          <a:cs typeface="Arial"/>
                        </a:rPr>
                        <a:t>C=10⁻⁴–10³; ε-insensitive/squared; dual={T,F}; 20k iterations</a:t>
                      </a:r>
                    </a:p>
                  </a:txBody>
                  <a:tcPr marL="66675" marR="66675" marT="38100" marB="38100" anchor="ctr">
                    <a:solidFill>
                      <a:srgbClr val="E8F0FE"/>
                    </a:solidFill>
                  </a:tcPr>
                </a:tc>
                <a:tc>
                  <a:txBody>
                    <a:bodyPr/>
                    <a:lstStyle/>
                    <a:p>
                      <a:r>
                        <a:rPr sz="975">
                          <a:solidFill>
                            <a:srgbClr val="212121"/>
                          </a:solidFill>
                          <a:latin typeface="Arial"/>
                          <a:ea typeface="Arial"/>
                          <a:cs typeface="Arial"/>
                        </a:rPr>
                        <a:t>24 configurations; min. mean CV MEE</a:t>
                      </a:r>
                    </a:p>
                  </a:txBody>
                  <a:tcPr marL="66675" marR="66675" marT="38100" marB="38100" anchor="ctr">
                    <a:solidFill>
                      <a:srgbClr val="E8F0FE"/>
                    </a:solidFill>
                  </a:tcPr>
                </a:tc>
                <a:extLst>
                  <a:ext uri="{0D108BD9-81ED-4DB2-BD59-A6C34878D82A}">
                    <a16:rowId xmlns:a16="http://schemas.microsoft.com/office/drawing/2014/main" val="10003"/>
                  </a:ext>
                </a:extLst>
              </a:tr>
              <a:tr h="488156">
                <a:tc>
                  <a:txBody>
                    <a:bodyPr/>
                    <a:lstStyle/>
                    <a:p>
                      <a:r>
                        <a:rPr sz="975" b="1">
                          <a:solidFill>
                            <a:srgbClr val="212121"/>
                          </a:solidFill>
                          <a:latin typeface="Arial"/>
                          <a:ea typeface="Arial"/>
                          <a:cs typeface="Arial"/>
                        </a:rPr>
                        <a:t>NN</a:t>
                      </a:r>
                    </a:p>
                  </a:txBody>
                  <a:tcPr marL="66675" marR="66675" marT="38100" marB="38100" anchor="ctr">
                    <a:solidFill>
                      <a:srgbClr val="E8F0FE"/>
                    </a:solidFill>
                  </a:tcPr>
                </a:tc>
                <a:tc>
                  <a:txBody>
                    <a:bodyPr/>
                    <a:lstStyle/>
                    <a:p>
                      <a:r>
                        <a:rPr sz="975">
                          <a:solidFill>
                            <a:srgbClr val="212121"/>
                          </a:solidFill>
                          <a:latin typeface="Arial"/>
                          <a:ea typeface="Arial"/>
                          <a:cs typeface="Arial"/>
                        </a:rPr>
                        <a:t>Sequential Optuna; 3/5-fold CV; MedianPruner</a:t>
                      </a:r>
                    </a:p>
                  </a:txBody>
                  <a:tcPr marL="66675" marR="66675" marT="38100" marB="38100" anchor="ctr">
                    <a:solidFill>
                      <a:srgbClr val="E8F0FE"/>
                    </a:solidFill>
                  </a:tcPr>
                </a:tc>
                <a:tc>
                  <a:txBody>
                    <a:bodyPr/>
                    <a:lstStyle/>
                    <a:p>
                      <a:r>
                        <a:rPr sz="975">
                          <a:solidFill>
                            <a:srgbClr val="212121"/>
                          </a:solidFill>
                          <a:latin typeface="Arial"/>
                          <a:ea typeface="Arial"/>
                          <a:cs typeface="Arial"/>
                        </a:rPr>
                        <a:t>η and λ: coarse→local; batch=16–128; 13 architectures;Activations: ReLU/Tanh/GELU</a:t>
                      </a:r>
                    </a:p>
                  </a:txBody>
                  <a:tcPr marL="66675" marR="66675" marT="38100" marB="38100" anchor="ctr">
                    <a:solidFill>
                      <a:srgbClr val="E8F0FE"/>
                    </a:solidFill>
                  </a:tcPr>
                </a:tc>
                <a:tc>
                  <a:txBody>
                    <a:bodyPr/>
                    <a:lstStyle/>
                    <a:p>
                      <a:r>
                        <a:rPr sz="975">
                          <a:solidFill>
                            <a:srgbClr val="212121"/>
                          </a:solidFill>
                          <a:latin typeface="Arial"/>
                          <a:ea typeface="Arial"/>
                          <a:cs typeface="Arial"/>
                        </a:rPr>
                        <a:t>160 trials; VL MEE + TR–VL gap diagnostic</a:t>
                      </a:r>
                    </a:p>
                  </a:txBody>
                  <a:tcPr marL="66675" marR="66675" marT="38100" marB="38100" anchor="ctr">
                    <a:solidFill>
                      <a:srgbClr val="E8F0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613108"/>
          </a:xfrm>
          <a:prstGeom prst="rect">
            <a:avLst/>
          </a:prstGeom>
          <a:noFill/>
          <a:ln>
            <a:noFill/>
          </a:ln>
        </p:spPr>
        <p:txBody>
          <a:bodyPr spcFirstLastPara="1" wrap="square" lIns="91425" tIns="91425" rIns="91425" bIns="91425" anchor="t">
            <a:noAutofit/>
          </a:bodyPr>
          <a:lstStyle/>
          <a:p>
            <a:pPr lvl="0">
              <a:buSzPct val="39285"/>
              <a:buNone/>
            </a:pPr>
            <a:r>
              <a:rPr sz="2500"/>
              <a:t>CUP model-selection — Optuna sensitivity to training seed</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58133"/>
            <a:ext cx="8520600" cy="3416400"/>
          </a:xfrm>
          <a:prstGeom prst="rect">
            <a:avLst/>
          </a:prstGeom>
          <a:noFill/>
          <a:ln>
            <a:noFill/>
          </a:ln>
        </p:spPr>
        <p:txBody>
          <a:bodyPr spcFirstLastPara="1" wrap="square" lIns="91425" tIns="91425" rIns="91425" bIns="91425" anchor="t">
            <a:noAutofit/>
          </a:bodyPr>
          <a:lstStyle/>
          <a:p>
            <a:pPr marL="114300" indent="0">
              <a:buNone/>
            </a:pPr>
            <a:r>
              <a:rPr sz="1400">
                <a:solidFill>
                  <a:schemeClr val="bg2"/>
                </a:solidFill>
              </a:rPr>
              <a:t>With fixed Optuna sampling and CV folds, predictive performance remains relatively stable while the selected NN configuration changes across training seeds. This suggests that there are several regions of search space with comparable performance. The three finalists were therefore be re-evaluated under every seed on the dedicated cup_NN_manual.ipynb.</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02F15020-66A7-620A-7B7A-C05C4312DEAE}" type="slidenum">
              <a:rPr/>
              <a:t>13</a:t>
            </a:fld>
            <a:endParaRPr/>
          </a:p>
        </p:txBody>
      </p:sp>
      <p:graphicFrame>
        <p:nvGraphicFramePr>
          <p:cNvPr id="104" name="Tabella 103"/>
          <p:cNvGraphicFramePr/>
          <p:nvPr/>
        </p:nvGraphicFramePr>
        <p:xfrm>
          <a:off x="781050" y="2247900"/>
          <a:ext cx="7581900" cy="2440780"/>
        </p:xfrm>
        <a:graphic>
          <a:graphicData uri="http://schemas.openxmlformats.org/drawingml/2006/table">
            <a:tbl>
              <a:tblPr/>
              <a:tblGrid>
                <a:gridCol w="1274173">
                  <a:extLst>
                    <a:ext uri="{9D8B030D-6E8A-4147-A177-3AD203B41FA5}">
                      <a16:colId xmlns:a16="http://schemas.microsoft.com/office/drawing/2014/main" val="20000"/>
                    </a:ext>
                  </a:extLst>
                </a:gridCol>
                <a:gridCol w="3012077">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Run / training seed</a:t>
                      </a:r>
                    </a:p>
                  </a:txBody>
                  <a:tcPr marL="66675" marR="66675" marT="38100" marB="38100" anchor="ctr">
                    <a:solidFill>
                      <a:srgbClr val="4285F4"/>
                    </a:solidFill>
                  </a:tcPr>
                </a:tc>
                <a:tc>
                  <a:txBody>
                    <a:bodyPr/>
                    <a:lstStyle/>
                    <a:p>
                      <a:r>
                        <a:rPr sz="900" b="1">
                          <a:solidFill>
                            <a:srgbClr val="FFFFFF"/>
                          </a:solidFill>
                          <a:latin typeface="Arial"/>
                          <a:ea typeface="Arial"/>
                          <a:cs typeface="Arial"/>
                        </a:rPr>
                        <a:t>MEE (TR / CV) · gap</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Architecture</a:t>
                      </a:r>
                    </a:p>
                  </a:txBody>
                  <a:tcPr marL="66675" marR="66675" marT="38100" marB="38100" anchor="ctr">
                    <a:solidFill>
                      <a:srgbClr val="4285F4"/>
                    </a:solidFill>
                  </a:tcPr>
                </a:tc>
                <a:tc>
                  <a:txBody>
                    <a:bodyPr/>
                    <a:lstStyle/>
                    <a:p>
                      <a:r>
                        <a:rPr sz="900" b="1">
                          <a:solidFill>
                            <a:srgbClr val="FFFFFF"/>
                          </a:solidFill>
                          <a:latin typeface="Arial"/>
                          <a:ea typeface="Arial"/>
                          <a:cs typeface="Arial"/>
                        </a:rPr>
                        <a:t>Optimization</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Run 1 · seed 1</a:t>
                      </a:r>
                    </a:p>
                  </a:txBody>
                  <a:tcPr marL="66675" marR="66675" marT="38100" marB="38100" anchor="ctr"/>
                </a:tc>
                <a:tc>
                  <a:txBody>
                    <a:bodyPr/>
                    <a:lstStyle/>
                    <a:p>
                      <a:r>
                        <a:rPr sz="975">
                          <a:solidFill>
                            <a:srgbClr val="212121"/>
                          </a:solidFill>
                          <a:latin typeface="Arial"/>
                          <a:ea typeface="Arial"/>
                          <a:cs typeface="Arial"/>
                        </a:rPr>
                        <a:t>16.0696 / 21.0251</a:t>
                      </a:r>
                    </a:p>
                    <a:p>
                      <a:r>
                        <a:rPr sz="975">
                          <a:solidFill>
                            <a:srgbClr val="212121"/>
                          </a:solidFill>
                          <a:latin typeface="Arial"/>
                          <a:ea typeface="Arial"/>
                          <a:cs typeface="Arial"/>
                        </a:rPr>
                        <a:t>Gap 4.9554</a:t>
                      </a:r>
                    </a:p>
                  </a:txBody>
                  <a:tcPr marL="66675" marR="66675" marT="38100" marB="38100" anchor="ctr"/>
                </a:tc>
                <a:tc>
                  <a:txBody>
                    <a:bodyPr/>
                    <a:lstStyle/>
                    <a:p>
                      <a:r>
                        <a:rPr sz="975">
                          <a:solidFill>
                            <a:srgbClr val="212121"/>
                          </a:solidFill>
                          <a:latin typeface="Arial"/>
                          <a:ea typeface="Arial"/>
                          <a:cs typeface="Arial"/>
                        </a:rPr>
                        <a:t>[256] · Tanh</a:t>
                      </a:r>
                    </a:p>
                  </a:txBody>
                  <a:tcPr marL="66675" marR="66675" marT="38100" marB="38100" anchor="ctr"/>
                </a:tc>
                <a:tc>
                  <a:txBody>
                    <a:bodyPr/>
                    <a:lstStyle/>
                    <a:p>
                      <a:r>
                        <a:rPr sz="975">
                          <a:solidFill>
                            <a:srgbClr val="212121"/>
                          </a:solidFill>
                          <a:latin typeface="Arial"/>
                          <a:ea typeface="Arial"/>
                          <a:cs typeface="Arial"/>
                        </a:rPr>
                        <a:t>Batch 64 · LR 0.10855</a:t>
                      </a:r>
                    </a:p>
                    <a:p>
                      <a:r>
                        <a:rPr sz="975">
                          <a:solidFill>
                            <a:srgbClr val="212121"/>
                          </a:solidFill>
                          <a:latin typeface="Arial"/>
                          <a:ea typeface="Arial"/>
                          <a:cs typeface="Arial"/>
                        </a:rPr>
                        <a:t>WD 4.67×10⁻⁵</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Run 2 · seed 10</a:t>
                      </a:r>
                    </a:p>
                  </a:txBody>
                  <a:tcPr marL="66675" marR="66675" marT="38100" marB="38100" anchor="ctr"/>
                </a:tc>
                <a:tc>
                  <a:txBody>
                    <a:bodyPr/>
                    <a:lstStyle/>
                    <a:p>
                      <a:r>
                        <a:rPr sz="975">
                          <a:solidFill>
                            <a:srgbClr val="212121"/>
                          </a:solidFill>
                          <a:latin typeface="Arial"/>
                          <a:ea typeface="Arial"/>
                          <a:cs typeface="Arial"/>
                        </a:rPr>
                        <a:t>13.9237 / 20.3317</a:t>
                      </a:r>
                    </a:p>
                    <a:p>
                      <a:r>
                        <a:rPr sz="975">
                          <a:solidFill>
                            <a:srgbClr val="212121"/>
                          </a:solidFill>
                          <a:latin typeface="Arial"/>
                          <a:ea typeface="Arial"/>
                          <a:cs typeface="Arial"/>
                        </a:rPr>
                        <a:t>Gap 6.4079</a:t>
                      </a:r>
                    </a:p>
                  </a:txBody>
                  <a:tcPr marL="66675" marR="66675" marT="38100" marB="38100" anchor="ctr"/>
                </a:tc>
                <a:tc>
                  <a:txBody>
                    <a:bodyPr/>
                    <a:lstStyle/>
                    <a:p>
                      <a:r>
                        <a:rPr sz="975">
                          <a:solidFill>
                            <a:srgbClr val="212121"/>
                          </a:solidFill>
                          <a:latin typeface="Arial"/>
                          <a:ea typeface="Arial"/>
                          <a:cs typeface="Arial"/>
                        </a:rPr>
                        <a:t>[128, 64] · GELU</a:t>
                      </a:r>
                    </a:p>
                  </a:txBody>
                  <a:tcPr marL="66675" marR="66675" marT="38100" marB="38100" anchor="ctr"/>
                </a:tc>
                <a:tc>
                  <a:txBody>
                    <a:bodyPr/>
                    <a:lstStyle/>
                    <a:p>
                      <a:r>
                        <a:rPr sz="975">
                          <a:solidFill>
                            <a:srgbClr val="212121"/>
                          </a:solidFill>
                          <a:latin typeface="Arial"/>
                          <a:ea typeface="Arial"/>
                          <a:cs typeface="Arial"/>
                        </a:rPr>
                        <a:t>Batch 16 · LR 0.04678</a:t>
                      </a:r>
                    </a:p>
                    <a:p>
                      <a:r>
                        <a:rPr sz="975">
                          <a:solidFill>
                            <a:srgbClr val="212121"/>
                          </a:solidFill>
                          <a:latin typeface="Arial"/>
                          <a:ea typeface="Arial"/>
                          <a:cs typeface="Arial"/>
                        </a:rPr>
                        <a:t>WD 6.55×10⁻³</a:t>
                      </a:r>
                    </a:p>
                  </a:txBody>
                  <a:tcPr marL="66675" marR="66675" marT="38100" marB="38100" anchor="ctr"/>
                </a:tc>
                <a:extLst>
                  <a:ext uri="{0D108BD9-81ED-4DB2-BD59-A6C34878D82A}">
                    <a16:rowId xmlns:a16="http://schemas.microsoft.com/office/drawing/2014/main" val="10002"/>
                  </a:ext>
                </a:extLst>
              </a:tr>
              <a:tr h="488156">
                <a:tc>
                  <a:txBody>
                    <a:bodyPr/>
                    <a:lstStyle/>
                    <a:p>
                      <a:r>
                        <a:rPr sz="975" b="1" i="0" u="none" cap="none">
                          <a:solidFill>
                            <a:srgbClr val="212121"/>
                          </a:solidFill>
                          <a:latin typeface="Arial"/>
                          <a:ea typeface="Arial"/>
                          <a:cs typeface="Arial"/>
                        </a:rPr>
                        <a:t>Run 3 · seed 20</a:t>
                      </a:r>
                    </a:p>
                  </a:txBody>
                  <a:tcPr marL="66675" marR="66675" marT="38100" marB="38100" anchor="ctr">
                    <a:noFill/>
                  </a:tcPr>
                </a:tc>
                <a:tc>
                  <a:txBody>
                    <a:bodyPr/>
                    <a:lstStyle/>
                    <a:p>
                      <a:r>
                        <a:rPr sz="975">
                          <a:solidFill>
                            <a:srgbClr val="212121"/>
                          </a:solidFill>
                          <a:latin typeface="Arial"/>
                          <a:ea typeface="Arial"/>
                          <a:cs typeface="Arial"/>
                        </a:rPr>
                        <a:t>17.4577 / 21.4611</a:t>
                      </a:r>
                    </a:p>
                    <a:p>
                      <a:r>
                        <a:rPr sz="975">
                          <a:solidFill>
                            <a:srgbClr val="212121"/>
                          </a:solidFill>
                          <a:latin typeface="Arial"/>
                          <a:ea typeface="Arial"/>
                          <a:cs typeface="Arial"/>
                        </a:rPr>
                        <a:t>Gap 4.0034</a:t>
                      </a:r>
                    </a:p>
                  </a:txBody>
                  <a:tcPr marL="66675" marR="66675" marT="38100" marB="38100" anchor="ctr">
                    <a:noFill/>
                  </a:tcPr>
                </a:tc>
                <a:tc>
                  <a:txBody>
                    <a:bodyPr/>
                    <a:lstStyle/>
                    <a:p>
                      <a:r>
                        <a:rPr sz="975">
                          <a:solidFill>
                            <a:srgbClr val="212121"/>
                          </a:solidFill>
                          <a:latin typeface="Arial"/>
                          <a:ea typeface="Arial"/>
                          <a:cs typeface="Arial"/>
                        </a:rPr>
                        <a:t>[64, 64] · GELU</a:t>
                      </a:r>
                    </a:p>
                  </a:txBody>
                  <a:tcPr marL="66675" marR="66675" marT="38100" marB="38100" anchor="ctr">
                    <a:noFill/>
                  </a:tcPr>
                </a:tc>
                <a:tc>
                  <a:txBody>
                    <a:bodyPr/>
                    <a:lstStyle/>
                    <a:p>
                      <a:r>
                        <a:rPr sz="975">
                          <a:solidFill>
                            <a:srgbClr val="212121"/>
                          </a:solidFill>
                          <a:latin typeface="Arial"/>
                          <a:ea typeface="Arial"/>
                          <a:cs typeface="Arial"/>
                        </a:rPr>
                        <a:t>Batch 32 · LR 0.10890</a:t>
                      </a:r>
                    </a:p>
                    <a:p>
                      <a:r>
                        <a:rPr sz="975">
                          <a:solidFill>
                            <a:srgbClr val="212121"/>
                          </a:solidFill>
                          <a:latin typeface="Arial"/>
                          <a:ea typeface="Arial"/>
                          <a:cs typeface="Arial"/>
                        </a:rPr>
                        <a:t>WD 5.27×10⁻⁶</a:t>
                      </a:r>
                    </a:p>
                  </a:txBody>
                  <a:tcPr marL="66675" marR="66675" marT="38100" marB="38100" anchor="ctr">
                    <a:noFill/>
                  </a:tcPr>
                </a:tc>
                <a:extLst>
                  <a:ext uri="{0D108BD9-81ED-4DB2-BD59-A6C34878D82A}">
                    <a16:rowId xmlns:a16="http://schemas.microsoft.com/office/drawing/2014/main" val="10003"/>
                  </a:ext>
                </a:extLst>
              </a:tr>
              <a:tr h="488156">
                <a:tc>
                  <a:txBody>
                    <a:bodyPr/>
                    <a:lstStyle/>
                    <a:p>
                      <a:r>
                        <a:rPr sz="975" b="1">
                          <a:solidFill>
                            <a:srgbClr val="212121"/>
                          </a:solidFill>
                          <a:latin typeface="Arial"/>
                          <a:ea typeface="Arial"/>
                          <a:cs typeface="Arial"/>
                        </a:rPr>
                        <a:t>Across runs</a:t>
                      </a:r>
                    </a:p>
                  </a:txBody>
                  <a:tcPr marL="66675" marR="66675" marT="38100" marB="38100" anchor="ctr">
                    <a:noFill/>
                  </a:tcPr>
                </a:tc>
                <a:tc>
                  <a:txBody>
                    <a:bodyPr/>
                    <a:lstStyle/>
                    <a:p>
                      <a:r>
                        <a:rPr sz="975">
                          <a:solidFill>
                            <a:srgbClr val="212121"/>
                          </a:solidFill>
                          <a:latin typeface="Arial"/>
                          <a:ea typeface="Arial"/>
                          <a:cs typeface="Arial"/>
                        </a:rPr>
                        <a:t>CV MEE 20.939 ± 0.465</a:t>
                      </a:r>
                    </a:p>
                    <a:p>
                      <a:r>
                        <a:rPr sz="975">
                          <a:solidFill>
                            <a:srgbClr val="212121"/>
                          </a:solidFill>
                          <a:latin typeface="Arial"/>
                          <a:ea typeface="Arial"/>
                          <a:cs typeface="Arial"/>
                        </a:rPr>
                        <a:t>Mean gap 5.122</a:t>
                      </a:r>
                    </a:p>
                  </a:txBody>
                  <a:tcPr marL="66675" marR="66675" marT="38100" marB="38100" anchor="ctr">
                    <a:noFill/>
                  </a:tcPr>
                </a:tc>
                <a:tc>
                  <a:txBody>
                    <a:bodyPr/>
                    <a:lstStyle/>
                    <a:p>
                      <a:r>
                        <a:rPr sz="975">
                          <a:solidFill>
                            <a:srgbClr val="212121"/>
                          </a:solidFill>
                          <a:latin typeface="Arial"/>
                          <a:ea typeface="Arial"/>
                          <a:cs typeface="Arial"/>
                        </a:rPr>
                        <a:t>Three distinct optima</a:t>
                      </a:r>
                    </a:p>
                  </a:txBody>
                  <a:tcPr marL="66675" marR="66675" marT="38100" marB="38100" anchor="ctr">
                    <a:noFill/>
                  </a:tcPr>
                </a:tc>
                <a:tc>
                  <a:txBody>
                    <a:bodyPr/>
                    <a:lstStyle/>
                    <a:p>
                      <a:r>
                        <a:rPr sz="975">
                          <a:solidFill>
                            <a:srgbClr val="212121"/>
                          </a:solidFill>
                          <a:latin typeface="Arial"/>
                          <a:ea typeface="Arial"/>
                          <a:cs typeface="Arial"/>
                        </a:rPr>
                        <a:t>Stable error range;</a:t>
                      </a:r>
                    </a:p>
                    <a:p>
                      <a:r>
                        <a:rPr sz="975">
                          <a:solidFill>
                            <a:srgbClr val="212121"/>
                          </a:solidFill>
                          <a:latin typeface="Arial"/>
                          <a:ea typeface="Arial"/>
                          <a:cs typeface="Arial"/>
                        </a:rPr>
                        <a:t>seed-sensitive choices</a:t>
                      </a:r>
                    </a:p>
                  </a:txBody>
                  <a:tcPr marL="66675" marR="66675" marT="38100" marB="38100"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Google Shape;104;p19">
            <a:extLst>
              <a:ext uri="{FF2B5EF4-FFF2-40B4-BE49-F238E27FC236}">
                <a16:creationId xmlns:a16="http://schemas.microsoft.com/office/drawing/2014/main" id="{BFEAAED3-D489-3B3A-C4CF-734F60AE3097}"/>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lvl="0">
              <a:buSzPct val="111111"/>
              <a:buNone/>
            </a:pPr>
            <a:r>
              <a:t>CUP model-selection — NN frozen-model assessment</a:t>
            </a:r>
          </a:p>
        </p:txBody>
      </p:sp>
      <p:sp>
        <p:nvSpPr>
          <p:cNvPr id="105" name="Google Shape;105;p19">
            <a:extLst>
              <a:ext uri="{FF2B5EF4-FFF2-40B4-BE49-F238E27FC236}">
                <a16:creationId xmlns:a16="http://schemas.microsoft.com/office/drawing/2014/main" id="{33BEE104-60CB-83F3-0351-F86DE45DE949}"/>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a:buSzPct val="100000"/>
              <a:buFont typeface="Wingdings"/>
              <a:buChar char="§"/>
            </a:pPr>
            <a:r>
              <a:rPr sz="1400" b="1">
                <a:solidFill>
                  <a:schemeClr val="bg2"/>
                </a:solidFill>
              </a:rPr>
              <a:t>Performance evidence</a:t>
            </a:r>
          </a:p>
          <a:p>
            <a:pPr marL="712788" lvl="1" indent="-115888">
              <a:buSzPct val="100000"/>
              <a:buFont typeface="Font di sistema regolare"/>
              <a:buChar char="-"/>
            </a:pPr>
            <a:r>
              <a:t>The frozen [128, 64] GELU network reduced MEE from the 35.44 baseline to 22.83. </a:t>
            </a:r>
          </a:p>
          <a:p>
            <a:pPr marL="712788" lvl="1" indent="-115888">
              <a:buSzPct val="100000"/>
              <a:buFont typeface="Font di sistema regolare"/>
              <a:buChar char="-"/>
            </a:pPr>
            <a:r>
              <a:t>Cross-validation and the diagnostic hold-out agreed closely: 20.28 ± 0.82 versus 20.08 MEE.</a:t>
            </a:r>
          </a:p>
          <a:p>
            <a:pPr marL="712788" lvl="1" indent="-115888">
              <a:buSzPct val="100000"/>
              <a:buFont typeface="Font di sistema regolare"/>
              <a:buChar char="-"/>
            </a:pPr>
            <a:r>
              <a:rPr sz="1400"/>
              <a:t>The bootstrap OOB estimate, 22.72 ± 1.09 MEE, almost matched the independent internal result (Δ = 0.11). </a:t>
            </a:r>
          </a:p>
          <a:p>
            <a:pPr marL="712788" lvl="1" indent="-115888">
              <a:buSzPct val="100000"/>
              <a:buFont typeface="Font di sistema regolare"/>
              <a:buChar char="-"/>
            </a:pPr>
            <a:r>
              <a:rPr sz="1400"/>
              <a:t>The internal result was 2.55 MEE worse than CV, revealing moderate CV optimism on the 100 held-out cases.</a:t>
            </a:r>
          </a:p>
          <a:p>
            <a:pPr>
              <a:buSzPct val="100000"/>
              <a:buFont typeface="Wingdings"/>
              <a:buChar char="§"/>
            </a:pPr>
            <a:r>
              <a:rPr sz="1400" b="1">
                <a:solidFill>
                  <a:schemeClr val="bg2"/>
                </a:solidFill>
              </a:rPr>
              <a:t>Interpretation and decision</a:t>
            </a:r>
          </a:p>
          <a:p>
            <a:pPr marL="712788" lvl="1" indent="-115888">
              <a:buSzPct val="100000"/>
              <a:buFont typeface="Font di sistema regolare"/>
              <a:buChar char="-"/>
            </a:pPr>
            <a:r>
              <a:t>Final training reached the CV-derived target at epoch 171 (TR MEE = 15.52). The 7.31 TR–internal gap indicates residual overfitting, but bootstrap agreement and the strong baseline improvement support useful generalization. Configuration, training procedure and seed were frozen before assessment; the internal result is not used for further tuning. </a:t>
            </a:r>
          </a:p>
          <a:p>
            <a:pPr marL="712788" lvl="1" indent="-115888">
              <a:buSzPct val="100000"/>
              <a:buFont typeface="Font di sistema regolare"/>
              <a:buChar char="-"/>
            </a:pPr>
            <a:r>
              <a:t>There was insufficient evidence to override the systematically selected Optuna configuration. Any manual configuration we tried seemed to break the trade off between the hyperparams combination. Suggesting what we well know: the hyperparams are strictly interconnected.</a:t>
            </a:r>
          </a:p>
          <a:p>
            <a:pPr marL="712788" lvl="1" indent="-115888">
              <a:buSzPct val="100000"/>
              <a:buFont typeface="Font di sistema regolare"/>
              <a:buChar char="-"/>
            </a:pPr>
            <a:endParaRPr/>
          </a:p>
        </p:txBody>
      </p:sp>
      <p:sp>
        <p:nvSpPr>
          <p:cNvPr id="106" name="Google Shape;106;p19">
            <a:extLst>
              <a:ext uri="{FF2B5EF4-FFF2-40B4-BE49-F238E27FC236}">
                <a16:creationId xmlns:a16="http://schemas.microsoft.com/office/drawing/2014/main" id="{52E1BD99-D526-A24D-284E-0A58A074039D}"/>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68AD4375-9F50-F53A-6F9F-DD8473067C05}" type="slidenum">
              <a:t>14</a:t>
            </a:fld>
            <a:endParaRPr/>
          </a:p>
        </p:txBody>
      </p:sp>
    </p:spTree>
    <p:extLst>
      <p:ext uri="{BB962C8B-B14F-4D97-AF65-F5344CB8AC3E}">
        <p14:creationId xmlns:p14="http://schemas.microsoft.com/office/powerpoint/2010/main" val="112493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613108"/>
          </a:xfrm>
          <a:prstGeom prst="rect">
            <a:avLst/>
          </a:prstGeom>
          <a:noFill/>
          <a:ln>
            <a:noFill/>
          </a:ln>
        </p:spPr>
        <p:txBody>
          <a:bodyPr spcFirstLastPara="1" wrap="square" lIns="91425" tIns="91425" rIns="91425" bIns="91425" anchor="t">
            <a:noAutofit/>
          </a:bodyPr>
          <a:lstStyle/>
          <a:p>
            <a:pPr lvl="0">
              <a:buSzPct val="39285"/>
              <a:buNone/>
            </a:pPr>
            <a:r>
              <a:rPr sz="2500"/>
              <a:t>CUP model-selection</a:t>
            </a:r>
            <a:r>
              <a:rPr sz="2400"/>
              <a:t> — </a:t>
            </a:r>
            <a:r>
              <a:rPr sz="2500"/>
              <a:t>results and hyperparameters</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58133"/>
            <a:ext cx="8520600" cy="3416400"/>
          </a:xfrm>
          <a:prstGeom prst="rect">
            <a:avLst/>
          </a:prstGeom>
          <a:noFill/>
          <a:ln>
            <a:noFill/>
          </a:ln>
        </p:spPr>
        <p:txBody>
          <a:bodyPr spcFirstLastPara="1" wrap="square" lIns="91425" tIns="91425" rIns="91425" bIns="91425" anchor="t">
            <a:noAutofit/>
          </a:bodyPr>
          <a:lstStyle/>
          <a:p>
            <a:pPr marL="9525" lvl="0" indent="-9525">
              <a:buNone/>
            </a:pPr>
            <a:r>
              <a:rPr sz="1400">
                <a:solidFill>
                  <a:schemeClr val="bg2"/>
                </a:solidFill>
              </a:rPr>
              <a:t>On the untouched 100-case internal test, KNN remains the strongest individual model. RBF-SVR stays competitive, while the NN shows the largest generalization error. LinearSVR was eventually excluded form ensemble for poor performance and used more as an intermediate baseline.</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844E025A-983C-6D44-79C6-4612AACD43FC}" type="slidenum">
              <a:rPr/>
              <a:t>15</a:t>
            </a:fld>
            <a:endParaRPr/>
          </a:p>
        </p:txBody>
      </p:sp>
      <p:graphicFrame>
        <p:nvGraphicFramePr>
          <p:cNvPr id="104" name="Tabella 103"/>
          <p:cNvGraphicFramePr/>
          <p:nvPr/>
        </p:nvGraphicFramePr>
        <p:xfrm>
          <a:off x="781050" y="2247900"/>
          <a:ext cx="7581900" cy="2440780"/>
        </p:xfrm>
        <a:graphic>
          <a:graphicData uri="http://schemas.openxmlformats.org/drawingml/2006/table">
            <a:tbl>
              <a:tblPr/>
              <a:tblGrid>
                <a:gridCol w="10001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Model</a:t>
                      </a:r>
                    </a:p>
                  </a:txBody>
                  <a:tcPr marL="66675" marR="66675" marT="38100" marB="38100" anchor="ctr">
                    <a:solidFill>
                      <a:srgbClr val="4285F4"/>
                    </a:solidFill>
                  </a:tcPr>
                </a:tc>
                <a:tc>
                  <a:txBody>
                    <a:bodyPr/>
                    <a:lstStyle/>
                    <a:p>
                      <a:r>
                        <a:rPr sz="900" b="1">
                          <a:solidFill>
                            <a:srgbClr val="FFFFFF"/>
                          </a:solidFill>
                          <a:latin typeface="Arial"/>
                          <a:ea typeface="Arial"/>
                          <a:cs typeface="Arial"/>
                        </a:rPr>
                        <a:t>Architecture and selected hyperparameters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MEE (TR / internal TS)</a:t>
                      </a:r>
                    </a:p>
                  </a:txBody>
                  <a:tcPr marL="66675" marR="66675" marT="38100" marB="38100" anchor="ctr">
                    <a:solidFill>
                      <a:srgbClr val="4285F4"/>
                    </a:solidFill>
                  </a:tcPr>
                </a:tc>
                <a:tc>
                  <a:txBody>
                    <a:bodyPr/>
                    <a:lstStyle/>
                    <a:p>
                      <a:r>
                        <a:rPr sz="900" b="1">
                          <a:solidFill>
                            <a:srgbClr val="FFFFFF"/>
                          </a:solidFill>
                          <a:latin typeface="Arial"/>
                          <a:ea typeface="Arial"/>
                          <a:cs typeface="Arial"/>
                        </a:rPr>
                        <a:t>CV validation MEE</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NN</a:t>
                      </a:r>
                    </a:p>
                  </a:txBody>
                  <a:tcPr marL="66675" marR="66675" marT="38100" marB="38100" anchor="ctr"/>
                </a:tc>
                <a:tc>
                  <a:txBody>
                    <a:bodyPr/>
                    <a:lstStyle/>
                    <a:p>
                      <a:r>
                        <a:rPr sz="975">
                          <a:solidFill>
                            <a:srgbClr val="212121"/>
                          </a:solidFill>
                          <a:latin typeface="Arial"/>
                          <a:ea typeface="Arial"/>
                          <a:cs typeface="Arial"/>
                        </a:rPr>
                        <a:t>128–64–32 GELU; AdamW; η=0.008375; λ=1.05×10⁻⁵; mini-batch 16</a:t>
                      </a:r>
                    </a:p>
                  </a:txBody>
                  <a:tcPr marL="66675" marR="66675" marT="38100" marB="38100" anchor="ctr"/>
                </a:tc>
                <a:tc>
                  <a:txBody>
                    <a:bodyPr/>
                    <a:lstStyle/>
                    <a:p>
                      <a:r>
                        <a:rPr sz="975">
                          <a:solidFill>
                            <a:srgbClr val="212121"/>
                          </a:solidFill>
                          <a:latin typeface="Arial"/>
                          <a:ea typeface="Arial"/>
                          <a:cs typeface="Arial"/>
                        </a:rPr>
                        <a:t>12.7045 / 22.0251</a:t>
                      </a:r>
                    </a:p>
                  </a:txBody>
                  <a:tcPr marL="66675" marR="66675" marT="38100" marB="38100" anchor="ctr"/>
                </a:tc>
                <a:tc>
                  <a:txBody>
                    <a:bodyPr/>
                    <a:lstStyle/>
                    <a:p>
                      <a:r>
                        <a:rPr sz="975">
                          <a:solidFill>
                            <a:srgbClr val="212121"/>
                          </a:solidFill>
                          <a:latin typeface="Arial"/>
                          <a:ea typeface="Arial"/>
                          <a:cs typeface="Arial"/>
                        </a:rPr>
                        <a:t>20.0802 ± 0.4017</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KNN</a:t>
                      </a:r>
                    </a:p>
                  </a:txBody>
                  <a:tcPr marL="66675" marR="66675" marT="38100" marB="38100" anchor="ctr"/>
                </a:tc>
                <a:tc>
                  <a:txBody>
                    <a:bodyPr/>
                    <a:lstStyle/>
                    <a:p>
                      <a:r>
                        <a:rPr sz="975">
                          <a:solidFill>
                            <a:srgbClr val="212121"/>
                          </a:solidFill>
                          <a:latin typeface="Arial"/>
                          <a:ea typeface="Arial"/>
                          <a:cs typeface="Arial"/>
                        </a:rPr>
                        <a:t>k=5; Euclidean (p=2); uniform weights; StandardScaler</a:t>
                      </a:r>
                    </a:p>
                  </a:txBody>
                  <a:tcPr marL="66675" marR="66675" marT="38100" marB="38100" anchor="ctr"/>
                </a:tc>
                <a:tc>
                  <a:txBody>
                    <a:bodyPr/>
                    <a:lstStyle/>
                    <a:p>
                      <a:r>
                        <a:rPr sz="975">
                          <a:solidFill>
                            <a:srgbClr val="212121"/>
                          </a:solidFill>
                          <a:latin typeface="Arial"/>
                          <a:ea typeface="Arial"/>
                          <a:cs typeface="Arial"/>
                        </a:rPr>
                        <a:t>13.2870 / 15.4430</a:t>
                      </a:r>
                    </a:p>
                  </a:txBody>
                  <a:tcPr marL="66675" marR="66675" marT="38100" marB="38100" anchor="ctr"/>
                </a:tc>
                <a:tc>
                  <a:txBody>
                    <a:bodyPr/>
                    <a:lstStyle/>
                    <a:p>
                      <a:r>
                        <a:rPr sz="975">
                          <a:solidFill>
                            <a:srgbClr val="212121"/>
                          </a:solidFill>
                          <a:latin typeface="Arial"/>
                          <a:ea typeface="Arial"/>
                          <a:cs typeface="Arial"/>
                        </a:rPr>
                        <a:t>17.1390 ± 0.2021</a:t>
                      </a:r>
                    </a:p>
                  </a:txBody>
                  <a:tcPr marL="66675" marR="66675" marT="38100" marB="38100" anchor="ctr"/>
                </a:tc>
                <a:extLst>
                  <a:ext uri="{0D108BD9-81ED-4DB2-BD59-A6C34878D82A}">
                    <a16:rowId xmlns:a16="http://schemas.microsoft.com/office/drawing/2014/main" val="10002"/>
                  </a:ext>
                </a:extLst>
              </a:tr>
              <a:tr h="488156">
                <a:tc>
                  <a:txBody>
                    <a:bodyPr/>
                    <a:lstStyle/>
                    <a:p>
                      <a:r>
                        <a:rPr sz="975" b="1" i="0" u="none" cap="none">
                          <a:solidFill>
                            <a:srgbClr val="212121"/>
                          </a:solidFill>
                          <a:latin typeface="Arial"/>
                          <a:ea typeface="Arial"/>
                          <a:cs typeface="Arial"/>
                        </a:rPr>
                        <a:t>RBF-SVR</a:t>
                      </a:r>
                    </a:p>
                  </a:txBody>
                  <a:tcPr marL="66675" marR="66675" marT="38100" marB="38100" anchor="ctr">
                    <a:noFill/>
                  </a:tcPr>
                </a:tc>
                <a:tc>
                  <a:txBody>
                    <a:bodyPr/>
                    <a:lstStyle/>
                    <a:p>
                      <a:r>
                        <a:rPr sz="975">
                          <a:solidFill>
                            <a:srgbClr val="212121"/>
                          </a:solidFill>
                          <a:latin typeface="Arial"/>
                          <a:ea typeface="Arial"/>
                          <a:cs typeface="Arial"/>
                        </a:rPr>
                        <a:t>C=100; γ=3; ε=0.1; four independent outputs</a:t>
                      </a:r>
                    </a:p>
                  </a:txBody>
                  <a:tcPr marL="66675" marR="66675" marT="38100" marB="38100" anchor="ctr">
                    <a:noFill/>
                  </a:tcPr>
                </a:tc>
                <a:tc>
                  <a:txBody>
                    <a:bodyPr/>
                    <a:lstStyle/>
                    <a:p>
                      <a:r>
                        <a:rPr sz="975">
                          <a:solidFill>
                            <a:srgbClr val="212121"/>
                          </a:solidFill>
                          <a:latin typeface="Arial"/>
                          <a:ea typeface="Arial"/>
                          <a:cs typeface="Arial"/>
                        </a:rPr>
                        <a:t>0.2599 / 18.1632</a:t>
                      </a:r>
                    </a:p>
                  </a:txBody>
                  <a:tcPr marL="66675" marR="66675" marT="38100" marB="38100" anchor="ctr">
                    <a:noFill/>
                  </a:tcPr>
                </a:tc>
                <a:tc>
                  <a:txBody>
                    <a:bodyPr/>
                    <a:lstStyle/>
                    <a:p>
                      <a:r>
                        <a:rPr sz="975">
                          <a:solidFill>
                            <a:srgbClr val="212121"/>
                          </a:solidFill>
                          <a:latin typeface="Arial"/>
                          <a:ea typeface="Arial"/>
                          <a:cs typeface="Arial"/>
                        </a:rPr>
                        <a:t>17.6784 ± 0.6903</a:t>
                      </a:r>
                    </a:p>
                  </a:txBody>
                  <a:tcPr marL="66675" marR="66675" marT="38100" marB="38100" anchor="ctr">
                    <a:noFill/>
                  </a:tcPr>
                </a:tc>
                <a:extLst>
                  <a:ext uri="{0D108BD9-81ED-4DB2-BD59-A6C34878D82A}">
                    <a16:rowId xmlns:a16="http://schemas.microsoft.com/office/drawing/2014/main" val="10003"/>
                  </a:ext>
                </a:extLst>
              </a:tr>
              <a:tr h="488156">
                <a:tc>
                  <a:txBody>
                    <a:bodyPr/>
                    <a:lstStyle/>
                    <a:p>
                      <a:r>
                        <a:rPr sz="975" b="1">
                          <a:solidFill>
                            <a:srgbClr val="212121"/>
                          </a:solidFill>
                          <a:latin typeface="Arial"/>
                          <a:ea typeface="Arial"/>
                          <a:cs typeface="Arial"/>
                        </a:rPr>
                        <a:t>LinearSVR*</a:t>
                      </a:r>
                    </a:p>
                  </a:txBody>
                  <a:tcPr marL="66675" marR="66675" marT="38100" marB="38100" anchor="ctr">
                    <a:noFill/>
                  </a:tcPr>
                </a:tc>
                <a:tc>
                  <a:txBody>
                    <a:bodyPr/>
                    <a:lstStyle/>
                    <a:p>
                      <a:r>
                        <a:rPr sz="975">
                          <a:solidFill>
                            <a:srgbClr val="212121"/>
                          </a:solidFill>
                          <a:latin typeface="Arial"/>
                          <a:ea typeface="Arial"/>
                          <a:cs typeface="Arial"/>
                        </a:rPr>
                        <a:t>C=0.01; squared ε-insensitive; dual=False; max_iter=20,000</a:t>
                      </a:r>
                    </a:p>
                  </a:txBody>
                  <a:tcPr marL="66675" marR="66675" marT="38100" marB="38100" anchor="ctr">
                    <a:noFill/>
                  </a:tcPr>
                </a:tc>
                <a:tc>
                  <a:txBody>
                    <a:bodyPr/>
                    <a:lstStyle/>
                    <a:p>
                      <a:r>
                        <a:rPr sz="975">
                          <a:solidFill>
                            <a:srgbClr val="212121"/>
                          </a:solidFill>
                          <a:latin typeface="Arial"/>
                          <a:ea typeface="Arial"/>
                          <a:cs typeface="Arial"/>
                        </a:rPr>
                        <a:t>24.9427 / 26.8403</a:t>
                      </a:r>
                    </a:p>
                  </a:txBody>
                  <a:tcPr marL="66675" marR="66675" marT="38100" marB="38100" anchor="ctr">
                    <a:noFill/>
                  </a:tcPr>
                </a:tc>
                <a:tc>
                  <a:txBody>
                    <a:bodyPr/>
                    <a:lstStyle/>
                    <a:p>
                      <a:r>
                        <a:rPr sz="975">
                          <a:solidFill>
                            <a:srgbClr val="212121"/>
                          </a:solidFill>
                          <a:latin typeface="Arial"/>
                          <a:ea typeface="Arial"/>
                          <a:cs typeface="Arial"/>
                        </a:rPr>
                        <a:t>25.1892 ± 0.8073</a:t>
                      </a:r>
                    </a:p>
                  </a:txBody>
                  <a:tcPr marL="66675" marR="66675" marT="38100" marB="38100"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marL="0" lvl="0" indent="0" algn="l">
              <a:lnSpc>
                <a:spcPct val="100000"/>
              </a:lnSpc>
              <a:spcBef>
                <a:spcPts val="0"/>
              </a:spcBef>
              <a:spcAft>
                <a:spcPts val="0"/>
              </a:spcAft>
              <a:buClr>
                <a:schemeClr val="dk1"/>
              </a:buClr>
              <a:buSzPct val="39285"/>
              <a:buFont typeface="Arial"/>
              <a:buNone/>
            </a:pPr>
            <a:r>
              <a:rPr sz="2500"/>
              <a:t>CUP model selection — complementary diagnostics</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18308"/>
            <a:ext cx="8520600" cy="3416400"/>
          </a:xfrm>
          <a:prstGeom prst="rect">
            <a:avLst/>
          </a:prstGeom>
          <a:noFill/>
          <a:ln>
            <a:noFill/>
          </a:ln>
        </p:spPr>
        <p:txBody>
          <a:bodyPr spcFirstLastPara="1" wrap="square" lIns="91425" tIns="91425" rIns="91425" bIns="91425" anchor="t">
            <a:noAutofit/>
          </a:bodyPr>
          <a:lstStyle/>
          <a:p>
            <a:pPr marL="0" lvl="0" indent="0" algn="l">
              <a:lnSpc>
                <a:spcPct val="115000"/>
              </a:lnSpc>
              <a:spcBef>
                <a:spcPts val="0"/>
              </a:spcBef>
              <a:spcAft>
                <a:spcPts val="1200"/>
              </a:spcAft>
              <a:buSzPts val="1800"/>
              <a:buNone/>
            </a:pPr>
            <a:r>
              <a:rPr sz="1400"/>
              <a:t>Complementary OOF metrics broadly preserve the same evidence: KNN and RBF-SVR are closely matched, while NN shows larger residuals. R² was not reported in the latest NN run.</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8C630A04-5A25-9E0C-9436-126091DB86B3}" type="slidenum">
              <a:t>16</a:t>
            </a:fld>
            <a:endParaRPr/>
          </a:p>
        </p:txBody>
      </p:sp>
      <p:graphicFrame>
        <p:nvGraphicFramePr>
          <p:cNvPr id="104" name="Tabella 103"/>
          <p:cNvGraphicFramePr/>
          <p:nvPr/>
        </p:nvGraphicFramePr>
        <p:xfrm>
          <a:off x="748937" y="2076450"/>
          <a:ext cx="7513912" cy="2183130"/>
        </p:xfrm>
        <a:graphic>
          <a:graphicData uri="http://schemas.openxmlformats.org/drawingml/2006/table">
            <a:tbl>
              <a:tblPr/>
              <a:tblGrid>
                <a:gridCol w="1140823">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2220686">
                  <a:extLst>
                    <a:ext uri="{9D8B030D-6E8A-4147-A177-3AD203B41FA5}">
                      <a16:colId xmlns:a16="http://schemas.microsoft.com/office/drawing/2014/main" val="20002"/>
                    </a:ext>
                  </a:extLst>
                </a:gridCol>
                <a:gridCol w="2079763">
                  <a:extLst>
                    <a:ext uri="{9D8B030D-6E8A-4147-A177-3AD203B41FA5}">
                      <a16:colId xmlns:a16="http://schemas.microsoft.com/office/drawing/2014/main" val="20003"/>
                    </a:ext>
                  </a:extLst>
                </a:gridCol>
              </a:tblGrid>
              <a:tr h="430530">
                <a:tc>
                  <a:txBody>
                    <a:bodyPr/>
                    <a:lstStyle/>
                    <a:p>
                      <a:r>
                        <a:rPr sz="1050" b="1">
                          <a:solidFill>
                            <a:srgbClr val="FFFFFF"/>
                          </a:solidFill>
                          <a:latin typeface="Arial"/>
                          <a:ea typeface="Arial"/>
                          <a:cs typeface="Arial"/>
                        </a:rPr>
                        <a:t>Diagnostic</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KNN</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RBF-SVR</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NN</a:t>
                      </a:r>
                    </a:p>
                  </a:txBody>
                  <a:tcPr marL="76200" marR="76200" marT="47625" marB="47625" anchor="ctr">
                    <a:solidFill>
                      <a:srgbClr val="4285F4"/>
                    </a:solidFill>
                  </a:tcPr>
                </a:tc>
                <a:extLst>
                  <a:ext uri="{0D108BD9-81ED-4DB2-BD59-A6C34878D82A}">
                    <a16:rowId xmlns:a16="http://schemas.microsoft.com/office/drawing/2014/main" val="10000"/>
                  </a:ext>
                </a:extLst>
              </a:tr>
              <a:tr h="430530">
                <a:tc>
                  <a:txBody>
                    <a:bodyPr/>
                    <a:lstStyle/>
                    <a:p>
                      <a:r>
                        <a:rPr sz="1125" b="1">
                          <a:solidFill>
                            <a:srgbClr val="212121"/>
                          </a:solidFill>
                          <a:latin typeface="Arial"/>
                          <a:ea typeface="Arial"/>
                          <a:cs typeface="Arial"/>
                        </a:rPr>
                        <a:t>MAE</a:t>
                      </a:r>
                    </a:p>
                  </a:txBody>
                  <a:tcPr marL="76200" marR="76200" marT="47625" marB="47625" anchor="ctr"/>
                </a:tc>
                <a:tc>
                  <a:txBody>
                    <a:bodyPr/>
                    <a:lstStyle/>
                    <a:p>
                      <a:r>
                        <a:rPr sz="1125">
                          <a:solidFill>
                            <a:srgbClr val="212121"/>
                          </a:solidFill>
                          <a:latin typeface="Arial"/>
                          <a:ea typeface="Arial"/>
                          <a:cs typeface="Arial"/>
                        </a:rPr>
                        <a:t>7.2924 — lowest; supports best MEE.</a:t>
                      </a:r>
                    </a:p>
                  </a:txBody>
                  <a:tcPr marL="76200" marR="76200" marT="47625" marB="47625" anchor="ctr"/>
                </a:tc>
                <a:tc>
                  <a:txBody>
                    <a:bodyPr/>
                    <a:lstStyle/>
                    <a:p>
                      <a:r>
                        <a:rPr sz="1125">
                          <a:solidFill>
                            <a:srgbClr val="212121"/>
                          </a:solidFill>
                          <a:latin typeface="Arial"/>
                          <a:ea typeface="Arial"/>
                          <a:cs typeface="Arial"/>
                        </a:rPr>
                        <a:t>7.7661 — slightly higher; supports MEE ranking.</a:t>
                      </a:r>
                    </a:p>
                  </a:txBody>
                  <a:tcPr marL="76200" marR="76200" marT="47625" marB="47625" anchor="ctr"/>
                </a:tc>
                <a:tc>
                  <a:txBody>
                    <a:bodyPr/>
                    <a:lstStyle/>
                    <a:p>
                      <a:r>
                        <a:rPr sz="1125">
                          <a:solidFill>
                            <a:srgbClr val="212121"/>
                          </a:solidFill>
                          <a:latin typeface="Arial"/>
                          <a:ea typeface="Arial"/>
                          <a:cs typeface="Arial"/>
                        </a:rPr>
                        <a:t>8.8193 — highest; supports worst MEE.</a:t>
                      </a:r>
                    </a:p>
                  </a:txBody>
                  <a:tcPr marL="76200" marR="76200" marT="47625" marB="47625" anchor="ctr"/>
                </a:tc>
                <a:extLst>
                  <a:ext uri="{0D108BD9-81ED-4DB2-BD59-A6C34878D82A}">
                    <a16:rowId xmlns:a16="http://schemas.microsoft.com/office/drawing/2014/main" val="10001"/>
                  </a:ext>
                </a:extLst>
              </a:tr>
              <a:tr h="430530">
                <a:tc>
                  <a:txBody>
                    <a:bodyPr/>
                    <a:lstStyle/>
                    <a:p>
                      <a:r>
                        <a:rPr sz="1125" b="1">
                          <a:solidFill>
                            <a:srgbClr val="212121"/>
                          </a:solidFill>
                          <a:latin typeface="Arial"/>
                          <a:ea typeface="Arial"/>
                          <a:cs typeface="Arial"/>
                        </a:rPr>
                        <a:t>RMSE</a:t>
                      </a:r>
                    </a:p>
                  </a:txBody>
                  <a:tcPr marL="76200" marR="76200" marT="47625" marB="47625" anchor="ctr"/>
                </a:tc>
                <a:tc>
                  <a:txBody>
                    <a:bodyPr/>
                    <a:lstStyle/>
                    <a:p>
                      <a:r>
                        <a:rPr sz="1125">
                          <a:solidFill>
                            <a:srgbClr val="212121"/>
                          </a:solidFill>
                          <a:latin typeface="Arial"/>
                          <a:ea typeface="Arial"/>
                          <a:cs typeface="Arial"/>
                        </a:rPr>
                        <a:t>10.0911 — lowest; limited large residuals.</a:t>
                      </a:r>
                    </a:p>
                  </a:txBody>
                  <a:tcPr marL="76200" marR="76200" marT="47625" marB="47625" anchor="ctr"/>
                </a:tc>
                <a:tc>
                  <a:txBody>
                    <a:bodyPr/>
                    <a:lstStyle/>
                    <a:p>
                      <a:r>
                        <a:rPr sz="1125">
                          <a:solidFill>
                            <a:srgbClr val="212121"/>
                          </a:solidFill>
                          <a:latin typeface="Arial"/>
                          <a:ea typeface="Arial"/>
                          <a:cs typeface="Arial"/>
                        </a:rPr>
                        <a:t>10.1046 — near-tie with KNN.</a:t>
                      </a:r>
                    </a:p>
                  </a:txBody>
                  <a:tcPr marL="76200" marR="76200" marT="47625" marB="47625" anchor="ctr"/>
                </a:tc>
                <a:tc>
                  <a:txBody>
                    <a:bodyPr/>
                    <a:lstStyle/>
                    <a:p>
                      <a:r>
                        <a:rPr sz="1125">
                          <a:solidFill>
                            <a:srgbClr val="212121"/>
                          </a:solidFill>
                          <a:latin typeface="Arial"/>
                          <a:ea typeface="Arial"/>
                          <a:cs typeface="Arial"/>
                        </a:rPr>
                        <a:t>11.5288 — higher; larger residuals.</a:t>
                      </a:r>
                    </a:p>
                  </a:txBody>
                  <a:tcPr marL="76200" marR="76200" marT="47625" marB="47625" anchor="ctr"/>
                </a:tc>
                <a:extLst>
                  <a:ext uri="{0D108BD9-81ED-4DB2-BD59-A6C34878D82A}">
                    <a16:rowId xmlns:a16="http://schemas.microsoft.com/office/drawing/2014/main" val="10002"/>
                  </a:ext>
                </a:extLst>
              </a:tr>
              <a:tr h="430530">
                <a:tc>
                  <a:txBody>
                    <a:bodyPr/>
                    <a:lstStyle/>
                    <a:p>
                      <a:r>
                        <a:rPr sz="1125" b="1">
                          <a:solidFill>
                            <a:srgbClr val="212121"/>
                          </a:solidFill>
                          <a:latin typeface="Arial"/>
                          <a:ea typeface="Arial"/>
                          <a:cs typeface="Arial"/>
                        </a:rPr>
                        <a:t>MSE</a:t>
                      </a:r>
                    </a:p>
                  </a:txBody>
                  <a:tcPr marL="76200" marR="76200" marT="47625" marB="47625" anchor="ctr"/>
                </a:tc>
                <a:tc>
                  <a:txBody>
                    <a:bodyPr/>
                    <a:lstStyle/>
                    <a:p>
                      <a:r>
                        <a:rPr sz="1125">
                          <a:solidFill>
                            <a:srgbClr val="212121"/>
                          </a:solidFill>
                          <a:latin typeface="Arial"/>
                          <a:ea typeface="Arial"/>
                          <a:cs typeface="Arial"/>
                        </a:rPr>
                        <a:t>102.2469 — lowest; near-tie with SVR.</a:t>
                      </a:r>
                    </a:p>
                  </a:txBody>
                  <a:tcPr marL="76200" marR="76200" marT="47625" marB="47625" anchor="ctr"/>
                </a:tc>
                <a:tc>
                  <a:txBody>
                    <a:bodyPr/>
                    <a:lstStyle/>
                    <a:p>
                      <a:r>
                        <a:rPr sz="1125">
                          <a:solidFill>
                            <a:srgbClr val="212121"/>
                          </a:solidFill>
                          <a:latin typeface="Arial"/>
                          <a:ea typeface="Arial"/>
                          <a:cs typeface="Arial"/>
                        </a:rPr>
                        <a:t>102.2488 — equivalent; MEE differentiates.</a:t>
                      </a:r>
                    </a:p>
                  </a:txBody>
                  <a:tcPr marL="76200" marR="76200" marT="47625" marB="47625" anchor="ctr"/>
                </a:tc>
                <a:tc>
                  <a:txBody>
                    <a:bodyPr/>
                    <a:lstStyle/>
                    <a:p>
                      <a:r>
                        <a:rPr sz="1125">
                          <a:solidFill>
                            <a:srgbClr val="212121"/>
                          </a:solidFill>
                          <a:latin typeface="Arial"/>
                          <a:ea typeface="Arial"/>
                          <a:cs typeface="Arial"/>
                        </a:rPr>
                        <a:t>134.4837 — much higher; supports weaker MEE.</a:t>
                      </a:r>
                    </a:p>
                  </a:txBody>
                  <a:tcPr marL="76200" marR="76200" marT="47625" marB="47625" anchor="ctr"/>
                </a:tc>
                <a:extLst>
                  <a:ext uri="{0D108BD9-81ED-4DB2-BD59-A6C34878D82A}">
                    <a16:rowId xmlns:a16="http://schemas.microsoft.com/office/drawing/2014/main" val="10003"/>
                  </a:ext>
                </a:extLst>
              </a:tr>
              <a:tr h="331984">
                <a:tc>
                  <a:txBody>
                    <a:bodyPr/>
                    <a:lstStyle/>
                    <a:p>
                      <a:r>
                        <a:rPr sz="1125" b="1">
                          <a:solidFill>
                            <a:schemeClr val="tx1"/>
                          </a:solidFill>
                          <a:latin typeface="Arial"/>
                          <a:ea typeface="Arial"/>
                          <a:cs typeface="Arial"/>
                        </a:rPr>
                        <a:t>R²</a:t>
                      </a:r>
                    </a:p>
                  </a:txBody>
                  <a:tcPr marL="76200" marR="76200" marT="47625" marB="47625" anchor="ctr">
                    <a:noFill/>
                  </a:tcPr>
                </a:tc>
                <a:tc>
                  <a:txBody>
                    <a:bodyPr/>
                    <a:lstStyle/>
                    <a:p>
                      <a:r>
                        <a:rPr sz="1125" b="0">
                          <a:solidFill>
                            <a:schemeClr val="tx1"/>
                          </a:solidFill>
                          <a:latin typeface="Arial"/>
                          <a:ea typeface="Arial"/>
                          <a:cs typeface="Arial"/>
                        </a:rPr>
                        <a:t>0.6538 — ≈65% variance explained.</a:t>
                      </a:r>
                    </a:p>
                  </a:txBody>
                  <a:tcPr marL="76200" marR="76200" marT="47625" marB="47625" anchor="ctr">
                    <a:noFill/>
                  </a:tcPr>
                </a:tc>
                <a:tc>
                  <a:txBody>
                    <a:bodyPr/>
                    <a:lstStyle/>
                    <a:p>
                      <a:r>
                        <a:rPr sz="1125" b="0">
                          <a:solidFill>
                            <a:schemeClr val="tx1"/>
                          </a:solidFill>
                          <a:latin typeface="Arial"/>
                          <a:ea typeface="Arial"/>
                          <a:cs typeface="Arial"/>
                        </a:rPr>
                        <a:t>0.6559 — negligible edge; no contradiction.</a:t>
                      </a:r>
                    </a:p>
                  </a:txBody>
                  <a:tcPr marL="76200" marR="76200" marT="47625" marB="47625" anchor="ctr">
                    <a:noFill/>
                  </a:tcPr>
                </a:tc>
                <a:tc>
                  <a:txBody>
                    <a:bodyPr/>
                    <a:lstStyle/>
                    <a:p>
                      <a:r>
                        <a:rPr sz="1125" b="0">
                          <a:solidFill>
                            <a:schemeClr val="tx1"/>
                          </a:solidFill>
                          <a:latin typeface="Arial"/>
                          <a:ea typeface="Arial"/>
                          <a:cs typeface="Arial"/>
                        </a:rPr>
                        <a:t>Not reported in latest NN run.</a:t>
                      </a:r>
                    </a:p>
                  </a:txBody>
                  <a:tcPr marL="76200" marR="76200" marT="47625" marB="47625"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613108"/>
          </a:xfrm>
          <a:prstGeom prst="rect">
            <a:avLst/>
          </a:prstGeom>
          <a:noFill/>
          <a:ln>
            <a:noFill/>
          </a:ln>
        </p:spPr>
        <p:txBody>
          <a:bodyPr spcFirstLastPara="1" wrap="square" lIns="91425" tIns="91425" rIns="91425" bIns="91425" anchor="t">
            <a:noAutofit/>
          </a:bodyPr>
          <a:lstStyle/>
          <a:p>
            <a:pPr lvl="0">
              <a:buSzPct val="39285"/>
              <a:buNone/>
            </a:pPr>
            <a:r>
              <a:rPr sz="2500"/>
              <a:t>CUP bootstrap stability — frozen individual models</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58133"/>
            <a:ext cx="8520600" cy="3416400"/>
          </a:xfrm>
          <a:prstGeom prst="rect">
            <a:avLst/>
          </a:prstGeom>
          <a:noFill/>
          <a:ln>
            <a:noFill/>
          </a:ln>
        </p:spPr>
        <p:txBody>
          <a:bodyPr spcFirstLastPara="1" wrap="square" lIns="91425" tIns="91425" rIns="91425" bIns="91425" anchor="t">
            <a:noAutofit/>
          </a:bodyPr>
          <a:lstStyle/>
          <a:p>
            <a:pPr marL="9525" lvl="0" indent="-9525">
              <a:buNone/>
            </a:pPr>
            <a:r>
              <a:rPr sz="1400">
                <a:solidFill>
                  <a:schemeClr val="bg2"/>
                </a:solidFill>
              </a:rPr>
              <a:t>Bootstrap OOB resampling (100 replicates) was performed on the development set after model selection. Its mean and dispersion complement—not replace—the single frozen internal-test assessment. Comparable estimates support stability; differences reflect resampling and finite-sample variability.</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90F7333B-44AC-F7E9-D49D-FE92F45E0477}" type="slidenum">
              <a:rPr/>
              <a:t>17</a:t>
            </a:fld>
            <a:endParaRPr/>
          </a:p>
        </p:txBody>
      </p:sp>
      <p:graphicFrame>
        <p:nvGraphicFramePr>
          <p:cNvPr id="104" name="Tabella 103"/>
          <p:cNvGraphicFramePr/>
          <p:nvPr/>
        </p:nvGraphicFramePr>
        <p:xfrm>
          <a:off x="781050" y="2247900"/>
          <a:ext cx="7581900" cy="2440780"/>
        </p:xfrm>
        <a:graphic>
          <a:graphicData uri="http://schemas.openxmlformats.org/drawingml/2006/table">
            <a:tbl>
              <a:tblPr/>
              <a:tblGrid>
                <a:gridCol w="10001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488156">
                <a:tc>
                  <a:txBody>
                    <a:bodyPr/>
                    <a:lstStyle/>
                    <a:p>
                      <a:r>
                        <a:rPr sz="900" b="1">
                          <a:solidFill>
                            <a:srgbClr val="FFFFFF"/>
                          </a:solidFill>
                          <a:latin typeface="Arial"/>
                          <a:ea typeface="Arial"/>
                          <a:cs typeface="Arial"/>
                        </a:rPr>
                        <a:t>Model</a:t>
                      </a:r>
                    </a:p>
                  </a:txBody>
                  <a:tcPr marL="66675" marR="66675" marT="38100" marB="38100" anchor="ctr">
                    <a:solidFill>
                      <a:srgbClr val="4285F4"/>
                    </a:solidFill>
                  </a:tcPr>
                </a:tc>
                <a:tc>
                  <a:txBody>
                    <a:bodyPr/>
                    <a:lstStyle/>
                    <a:p>
                      <a:r>
                        <a:rPr sz="900" b="1">
                          <a:solidFill>
                            <a:srgbClr val="FFFFFF"/>
                          </a:solidFill>
                          <a:latin typeface="Arial"/>
                          <a:ea typeface="Arial"/>
                          <a:cs typeface="Arial"/>
                        </a:rPr>
                        <a:t>Internal-test MEE</a:t>
                      </a:r>
                    </a:p>
                  </a:txBody>
                  <a:tcPr marL="66675" marR="66675" marT="38100" marB="38100" anchor="ctr">
                    <a:solidFill>
                      <a:srgbClr val="4285F4"/>
                    </a:solidFill>
                  </a:tcPr>
                </a:tc>
                <a:tc>
                  <a:txBody>
                    <a:bodyPr/>
                    <a:lstStyle/>
                    <a:p>
                      <a:r>
                        <a:rPr sz="900" b="1">
                          <a:solidFill>
                            <a:srgbClr val="FFFFFF"/>
                          </a:solidFill>
                          <a:latin typeface="Arial"/>
                          <a:ea typeface="Arial"/>
                          <a:cs typeface="Arial"/>
                        </a:rPr>
                        <a:t>Bootstrap OOB MEE (mean ± SD)</a:t>
                      </a:r>
                    </a:p>
                  </a:txBody>
                  <a:tcPr marL="66675" marR="66675" marT="38100" marB="38100" anchor="ctr">
                    <a:solidFill>
                      <a:srgbClr val="4285F4"/>
                    </a:solidFill>
                  </a:tcPr>
                </a:tc>
                <a:tc>
                  <a:txBody>
                    <a:bodyPr/>
                    <a:lstStyle/>
                    <a:p>
                      <a:r>
                        <a:rPr sz="900" b="1">
                          <a:solidFill>
                            <a:srgbClr val="FFFFFF"/>
                          </a:solidFill>
                          <a:latin typeface="Arial"/>
                          <a:ea typeface="Arial"/>
                          <a:cs typeface="Arial"/>
                        </a:rPr>
                        <a:t>Relative SD</a:t>
                      </a:r>
                    </a:p>
                  </a:txBody>
                  <a:tcPr marL="66675" marR="66675" marT="38100" marB="38100" anchor="ctr">
                    <a:solidFill>
                      <a:srgbClr val="4285F4"/>
                    </a:solidFill>
                  </a:tcPr>
                </a:tc>
                <a:extLst>
                  <a:ext uri="{0D108BD9-81ED-4DB2-BD59-A6C34878D82A}">
                    <a16:rowId xmlns:a16="http://schemas.microsoft.com/office/drawing/2014/main" val="10000"/>
                  </a:ext>
                </a:extLst>
              </a:tr>
              <a:tr h="488156">
                <a:tc>
                  <a:txBody>
                    <a:bodyPr/>
                    <a:lstStyle/>
                    <a:p>
                      <a:r>
                        <a:rPr sz="975" b="1">
                          <a:solidFill>
                            <a:srgbClr val="212121"/>
                          </a:solidFill>
                          <a:latin typeface="Arial"/>
                          <a:ea typeface="Arial"/>
                          <a:cs typeface="Arial"/>
                        </a:rPr>
                        <a:t>KNN</a:t>
                      </a:r>
                    </a:p>
                  </a:txBody>
                  <a:tcPr marL="66675" marR="66675" marT="38100" marB="38100" anchor="ctr"/>
                </a:tc>
                <a:tc>
                  <a:txBody>
                    <a:bodyPr/>
                    <a:lstStyle/>
                    <a:p>
                      <a:r>
                        <a:rPr sz="975">
                          <a:solidFill>
                            <a:srgbClr val="212121"/>
                          </a:solidFill>
                          <a:latin typeface="Arial"/>
                          <a:ea typeface="Arial"/>
                          <a:cs typeface="Arial"/>
                        </a:rPr>
                        <a:t>16.8191</a:t>
                      </a:r>
                    </a:p>
                  </a:txBody>
                  <a:tcPr marL="66675" marR="66675" marT="38100" marB="38100" anchor="ctr"/>
                </a:tc>
                <a:tc>
                  <a:txBody>
                    <a:bodyPr/>
                    <a:lstStyle/>
                    <a:p>
                      <a:r>
                        <a:rPr sz="975">
                          <a:solidFill>
                            <a:srgbClr val="212121"/>
                          </a:solidFill>
                          <a:latin typeface="Arial"/>
                          <a:ea typeface="Arial"/>
                          <a:cs typeface="Arial"/>
                        </a:rPr>
                        <a:t>17.66 ± 1.09</a:t>
                      </a:r>
                    </a:p>
                  </a:txBody>
                  <a:tcPr marL="66675" marR="66675" marT="38100" marB="38100" anchor="ctr"/>
                </a:tc>
                <a:tc>
                  <a:txBody>
                    <a:bodyPr/>
                    <a:lstStyle/>
                    <a:p>
                      <a:r>
                        <a:rPr sz="975">
                          <a:solidFill>
                            <a:srgbClr val="212121"/>
                          </a:solidFill>
                          <a:latin typeface="Arial"/>
                          <a:ea typeface="Arial"/>
                          <a:cs typeface="Arial"/>
                        </a:rPr>
                        <a:t>6.16%</a:t>
                      </a:r>
                    </a:p>
                  </a:txBody>
                  <a:tcPr marL="66675" marR="66675" marT="38100" marB="38100" anchor="ctr"/>
                </a:tc>
                <a:extLst>
                  <a:ext uri="{0D108BD9-81ED-4DB2-BD59-A6C34878D82A}">
                    <a16:rowId xmlns:a16="http://schemas.microsoft.com/office/drawing/2014/main" val="10001"/>
                  </a:ext>
                </a:extLst>
              </a:tr>
              <a:tr h="488156">
                <a:tc>
                  <a:txBody>
                    <a:bodyPr/>
                    <a:lstStyle/>
                    <a:p>
                      <a:r>
                        <a:rPr sz="975" b="1">
                          <a:solidFill>
                            <a:srgbClr val="212121"/>
                          </a:solidFill>
                          <a:latin typeface="Arial"/>
                          <a:ea typeface="Arial"/>
                          <a:cs typeface="Arial"/>
                        </a:rPr>
                        <a:t>RBF-SVR</a:t>
                      </a:r>
                    </a:p>
                  </a:txBody>
                  <a:tcPr marL="66675" marR="66675" marT="38100" marB="38100" anchor="ctr"/>
                </a:tc>
                <a:tc>
                  <a:txBody>
                    <a:bodyPr/>
                    <a:lstStyle/>
                    <a:p>
                      <a:r>
                        <a:rPr sz="975">
                          <a:solidFill>
                            <a:srgbClr val="212121"/>
                          </a:solidFill>
                          <a:latin typeface="Arial"/>
                          <a:ea typeface="Arial"/>
                          <a:cs typeface="Arial"/>
                        </a:rPr>
                        <a:t>18.1632</a:t>
                      </a:r>
                    </a:p>
                  </a:txBody>
                  <a:tcPr marL="66675" marR="66675" marT="38100" marB="38100" anchor="ctr"/>
                </a:tc>
                <a:tc>
                  <a:txBody>
                    <a:bodyPr/>
                    <a:lstStyle/>
                    <a:p>
                      <a:r>
                        <a:rPr sz="975">
                          <a:solidFill>
                            <a:srgbClr val="212121"/>
                          </a:solidFill>
                          <a:latin typeface="Arial"/>
                          <a:ea typeface="Arial"/>
                          <a:cs typeface="Arial"/>
                        </a:rPr>
                        <a:t>18.45 ± 0.75</a:t>
                      </a:r>
                    </a:p>
                  </a:txBody>
                  <a:tcPr marL="66675" marR="66675" marT="38100" marB="38100" anchor="ctr"/>
                </a:tc>
                <a:tc>
                  <a:txBody>
                    <a:bodyPr/>
                    <a:lstStyle/>
                    <a:p>
                      <a:r>
                        <a:rPr sz="975">
                          <a:solidFill>
                            <a:srgbClr val="212121"/>
                          </a:solidFill>
                          <a:latin typeface="Arial"/>
                          <a:ea typeface="Arial"/>
                          <a:cs typeface="Arial"/>
                        </a:rPr>
                        <a:t>4.07%</a:t>
                      </a:r>
                    </a:p>
                  </a:txBody>
                  <a:tcPr marL="66675" marR="66675" marT="38100" marB="38100" anchor="ctr"/>
                </a:tc>
                <a:extLst>
                  <a:ext uri="{0D108BD9-81ED-4DB2-BD59-A6C34878D82A}">
                    <a16:rowId xmlns:a16="http://schemas.microsoft.com/office/drawing/2014/main" val="10002"/>
                  </a:ext>
                </a:extLst>
              </a:tr>
              <a:tr h="488156">
                <a:tc>
                  <a:txBody>
                    <a:bodyPr/>
                    <a:lstStyle/>
                    <a:p>
                      <a:r>
                        <a:rPr sz="975" b="1" i="0" u="none" cap="none">
                          <a:solidFill>
                            <a:srgbClr val="212121"/>
                          </a:solidFill>
                          <a:latin typeface="Arial"/>
                          <a:ea typeface="Arial"/>
                          <a:cs typeface="Arial"/>
                        </a:rPr>
                        <a:t>NN</a:t>
                      </a:r>
                    </a:p>
                  </a:txBody>
                  <a:tcPr marL="66675" marR="66675" marT="38100" marB="38100" anchor="ctr">
                    <a:noFill/>
                  </a:tcPr>
                </a:tc>
                <a:tc>
                  <a:txBody>
                    <a:bodyPr/>
                    <a:lstStyle/>
                    <a:p>
                      <a:r>
                        <a:rPr sz="975">
                          <a:solidFill>
                            <a:srgbClr val="212121"/>
                          </a:solidFill>
                          <a:latin typeface="Arial"/>
                          <a:ea typeface="Arial"/>
                          <a:cs typeface="Arial"/>
                        </a:rPr>
                        <a:t>22.8320</a:t>
                      </a:r>
                    </a:p>
                  </a:txBody>
                  <a:tcPr marL="66675" marR="66675" marT="38100" marB="38100" anchor="ctr">
                    <a:noFill/>
                  </a:tcPr>
                </a:tc>
                <a:tc>
                  <a:txBody>
                    <a:bodyPr/>
                    <a:lstStyle/>
                    <a:p>
                      <a:r>
                        <a:rPr sz="975">
                          <a:solidFill>
                            <a:srgbClr val="212121"/>
                          </a:solidFill>
                          <a:latin typeface="Arial"/>
                          <a:ea typeface="Arial"/>
                          <a:cs typeface="Arial"/>
                        </a:rPr>
                        <a:t>22.72 ± 1.09</a:t>
                      </a:r>
                    </a:p>
                  </a:txBody>
                  <a:tcPr marL="66675" marR="66675" marT="38100" marB="38100" anchor="ctr">
                    <a:noFill/>
                  </a:tcPr>
                </a:tc>
                <a:tc>
                  <a:txBody>
                    <a:bodyPr/>
                    <a:lstStyle/>
                    <a:p>
                      <a:r>
                        <a:rPr sz="975">
                          <a:solidFill>
                            <a:srgbClr val="212121"/>
                          </a:solidFill>
                          <a:latin typeface="Arial"/>
                          <a:ea typeface="Arial"/>
                          <a:cs typeface="Arial"/>
                        </a:rPr>
                        <a:t>4.78%</a:t>
                      </a:r>
                    </a:p>
                  </a:txBody>
                  <a:tcPr marL="66675" marR="66675" marT="38100" marB="38100" anchor="ctr">
                    <a:noFill/>
                  </a:tcPr>
                </a:tc>
                <a:extLst>
                  <a:ext uri="{0D108BD9-81ED-4DB2-BD59-A6C34878D82A}">
                    <a16:rowId xmlns:a16="http://schemas.microsoft.com/office/drawing/2014/main" val="10003"/>
                  </a:ext>
                </a:extLst>
              </a:tr>
              <a:tr h="488156">
                <a:tc>
                  <a:txBody>
                    <a:bodyPr/>
                    <a:lstStyle/>
                    <a:p>
                      <a:r>
                        <a:rPr sz="975" b="1">
                          <a:solidFill>
                            <a:srgbClr val="212121"/>
                          </a:solidFill>
                          <a:latin typeface="Arial"/>
                          <a:ea typeface="Arial"/>
                          <a:cs typeface="Arial"/>
                        </a:rPr>
                        <a:t>LinearSVR</a:t>
                      </a:r>
                    </a:p>
                  </a:txBody>
                  <a:tcPr marL="66675" marR="66675" marT="38100" marB="38100" anchor="ctr">
                    <a:noFill/>
                  </a:tcPr>
                </a:tc>
                <a:tc>
                  <a:txBody>
                    <a:bodyPr/>
                    <a:lstStyle/>
                    <a:p>
                      <a:r>
                        <a:rPr sz="975">
                          <a:solidFill>
                            <a:srgbClr val="212121"/>
                          </a:solidFill>
                          <a:latin typeface="Arial"/>
                          <a:ea typeface="Arial"/>
                          <a:cs typeface="Arial"/>
                        </a:rPr>
                        <a:t>26.8403</a:t>
                      </a:r>
                    </a:p>
                  </a:txBody>
                  <a:tcPr marL="66675" marR="66675" marT="38100" marB="38100" anchor="ctr">
                    <a:noFill/>
                  </a:tcPr>
                </a:tc>
                <a:tc>
                  <a:txBody>
                    <a:bodyPr/>
                    <a:lstStyle/>
                    <a:p>
                      <a:r>
                        <a:rPr sz="975">
                          <a:solidFill>
                            <a:srgbClr val="212121"/>
                          </a:solidFill>
                          <a:latin typeface="Arial"/>
                          <a:ea typeface="Arial"/>
                          <a:cs typeface="Arial"/>
                        </a:rPr>
                        <a:t>25.22 ± 0.73</a:t>
                      </a:r>
                    </a:p>
                  </a:txBody>
                  <a:tcPr marL="66675" marR="66675" marT="38100" marB="38100" anchor="ctr">
                    <a:noFill/>
                  </a:tcPr>
                </a:tc>
                <a:tc>
                  <a:txBody>
                    <a:bodyPr/>
                    <a:lstStyle/>
                    <a:p>
                      <a:r>
                        <a:rPr sz="975">
                          <a:solidFill>
                            <a:srgbClr val="212121"/>
                          </a:solidFill>
                          <a:latin typeface="Arial"/>
                          <a:ea typeface="Arial"/>
                          <a:cs typeface="Arial"/>
                        </a:rPr>
                        <a:t>2.91%</a:t>
                      </a:r>
                    </a:p>
                  </a:txBody>
                  <a:tcPr marL="66675" marR="66675" marT="38100" marB="38100"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Google Shape;96;p18">
            <a:extLst>
              <a:ext uri="{FF2B5EF4-FFF2-40B4-BE49-F238E27FC236}">
                <a16:creationId xmlns:a16="http://schemas.microsoft.com/office/drawing/2014/main" id="{EE7C7AA6-4F4E-48D9-AE96-8CB83FE94F79}"/>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lvl="0">
              <a:buSzPct val="39285"/>
              <a:buNone/>
            </a:pPr>
            <a:r>
              <a:rPr sz="2500"/>
              <a:t>CUP Ensemble — Final MEE summary</a:t>
            </a:r>
          </a:p>
        </p:txBody>
      </p:sp>
      <p:sp>
        <p:nvSpPr>
          <p:cNvPr id="97" name="Google Shape;97;p18">
            <a:extLst>
              <a:ext uri="{FF2B5EF4-FFF2-40B4-BE49-F238E27FC236}">
                <a16:creationId xmlns:a16="http://schemas.microsoft.com/office/drawing/2014/main" id="{3A123A57-0278-414C-8131-B32C39F6BD93}"/>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0" lvl="0" indent="0" algn="l">
              <a:lnSpc>
                <a:spcPct val="115000"/>
              </a:lnSpc>
              <a:spcBef>
                <a:spcPts val="0"/>
              </a:spcBef>
              <a:spcAft>
                <a:spcPts val="1200"/>
              </a:spcAft>
              <a:buSzPts val="1800"/>
              <a:buNone/>
            </a:pPr>
            <a:r>
              <a:rPr sz="1400"/>
              <a:t>Training MEE is in-sample and optimistic; the untouched internal test is the primary generalization estimate. The ensemble preserves its OOF improvement on the internal split.</a:t>
            </a:r>
          </a:p>
        </p:txBody>
      </p:sp>
      <p:sp>
        <p:nvSpPr>
          <p:cNvPr id="99" name="Google Shape;99;p18">
            <a:extLst>
              <a:ext uri="{FF2B5EF4-FFF2-40B4-BE49-F238E27FC236}">
                <a16:creationId xmlns:a16="http://schemas.microsoft.com/office/drawing/2014/main" id="{7F271FF6-F5C0-4638-8E1E-1CB7DB24B39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B1C6C81E-38B9-7560-621D-5A151A79DF9B}" type="slidenum">
              <a:rPr/>
              <a:t>18</a:t>
            </a:fld>
            <a:endParaRPr/>
          </a:p>
        </p:txBody>
      </p:sp>
      <p:graphicFrame>
        <p:nvGraphicFramePr>
          <p:cNvPr id="104" name="Tabella 103"/>
          <p:cNvGraphicFramePr/>
          <p:nvPr/>
        </p:nvGraphicFramePr>
        <p:xfrm>
          <a:off x="1362075" y="2076450"/>
          <a:ext cx="6029325" cy="2152650"/>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1552575">
                  <a:extLst>
                    <a:ext uri="{9D8B030D-6E8A-4147-A177-3AD203B41FA5}">
                      <a16:colId xmlns:a16="http://schemas.microsoft.com/office/drawing/2014/main" val="20003"/>
                    </a:ext>
                  </a:extLst>
                </a:gridCol>
              </a:tblGrid>
              <a:tr h="430530">
                <a:tc>
                  <a:txBody>
                    <a:bodyPr/>
                    <a:lstStyle/>
                    <a:p>
                      <a:r>
                        <a:rPr sz="1050" b="1">
                          <a:solidFill>
                            <a:srgbClr val="FFFFFF"/>
                          </a:solidFill>
                          <a:latin typeface="Arial"/>
                          <a:ea typeface="Arial"/>
                          <a:cs typeface="Arial"/>
                        </a:rPr>
                        <a:t>Model</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Training</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OOF validation</a:t>
                      </a:r>
                    </a:p>
                  </a:txBody>
                  <a:tcPr marL="76200" marR="76200" marT="47625" marB="47625" anchor="ctr">
                    <a:solidFill>
                      <a:srgbClr val="4285F4"/>
                    </a:solidFill>
                  </a:tcPr>
                </a:tc>
                <a:tc>
                  <a:txBody>
                    <a:bodyPr/>
                    <a:lstStyle/>
                    <a:p>
                      <a:r>
                        <a:rPr sz="1050" b="1">
                          <a:solidFill>
                            <a:srgbClr val="FFFFFF"/>
                          </a:solidFill>
                          <a:latin typeface="Arial"/>
                          <a:ea typeface="Arial"/>
                          <a:cs typeface="Arial"/>
                        </a:rPr>
                        <a:t>Internal test</a:t>
                      </a:r>
                    </a:p>
                  </a:txBody>
                  <a:tcPr marL="76200" marR="76200" marT="47625" marB="47625" anchor="ctr">
                    <a:solidFill>
                      <a:srgbClr val="4285F4"/>
                    </a:solidFill>
                  </a:tcPr>
                </a:tc>
                <a:extLst>
                  <a:ext uri="{0D108BD9-81ED-4DB2-BD59-A6C34878D82A}">
                    <a16:rowId xmlns:a16="http://schemas.microsoft.com/office/drawing/2014/main" val="10000"/>
                  </a:ext>
                </a:extLst>
              </a:tr>
              <a:tr h="430530">
                <a:tc>
                  <a:txBody>
                    <a:bodyPr/>
                    <a:lstStyle/>
                    <a:p>
                      <a:r>
                        <a:rPr sz="1125" b="1">
                          <a:solidFill>
                            <a:srgbClr val="212121"/>
                          </a:solidFill>
                          <a:latin typeface="Arial"/>
                          <a:ea typeface="Arial"/>
                          <a:cs typeface="Arial"/>
                        </a:rPr>
                        <a:t>KNN</a:t>
                      </a:r>
                    </a:p>
                  </a:txBody>
                  <a:tcPr marL="76200" marR="76200" marT="47625" marB="47625" anchor="ctr"/>
                </a:tc>
                <a:tc>
                  <a:txBody>
                    <a:bodyPr/>
                    <a:lstStyle/>
                    <a:p>
                      <a:r>
                        <a:rPr sz="1125">
                          <a:solidFill>
                            <a:srgbClr val="212121"/>
                          </a:solidFill>
                          <a:latin typeface="Arial"/>
                          <a:ea typeface="Arial"/>
                          <a:cs typeface="Arial"/>
                        </a:rPr>
                        <a:t>10.5313</a:t>
                      </a:r>
                    </a:p>
                  </a:txBody>
                  <a:tcPr marL="76200" marR="76200" marT="47625" marB="47625" anchor="ctr"/>
                </a:tc>
                <a:tc>
                  <a:txBody>
                    <a:bodyPr/>
                    <a:lstStyle/>
                    <a:p>
                      <a:r>
                        <a:rPr sz="1125">
                          <a:solidFill>
                            <a:srgbClr val="212121"/>
                          </a:solidFill>
                          <a:latin typeface="Arial"/>
                          <a:ea typeface="Arial"/>
                          <a:cs typeface="Arial"/>
                        </a:rPr>
                        <a:t>16.3223</a:t>
                      </a:r>
                    </a:p>
                  </a:txBody>
                  <a:tcPr marL="76200" marR="76200" marT="47625" marB="47625" anchor="ctr"/>
                </a:tc>
                <a:tc>
                  <a:txBody>
                    <a:bodyPr/>
                    <a:lstStyle/>
                    <a:p>
                      <a:r>
                        <a:rPr sz="1125">
                          <a:solidFill>
                            <a:srgbClr val="212121"/>
                          </a:solidFill>
                          <a:latin typeface="Arial"/>
                          <a:ea typeface="Arial"/>
                          <a:cs typeface="Arial"/>
                        </a:rPr>
                        <a:t>16.8191</a:t>
                      </a:r>
                    </a:p>
                  </a:txBody>
                  <a:tcPr marL="76200" marR="76200" marT="47625" marB="47625" anchor="ctr"/>
                </a:tc>
                <a:extLst>
                  <a:ext uri="{0D108BD9-81ED-4DB2-BD59-A6C34878D82A}">
                    <a16:rowId xmlns:a16="http://schemas.microsoft.com/office/drawing/2014/main" val="10001"/>
                  </a:ext>
                </a:extLst>
              </a:tr>
              <a:tr h="430530">
                <a:tc>
                  <a:txBody>
                    <a:bodyPr/>
                    <a:lstStyle/>
                    <a:p>
                      <a:r>
                        <a:rPr sz="1125" b="1">
                          <a:solidFill>
                            <a:srgbClr val="212121"/>
                          </a:solidFill>
                          <a:latin typeface="Arial"/>
                          <a:ea typeface="Arial"/>
                          <a:cs typeface="Arial"/>
                        </a:rPr>
                        <a:t>RBF-SVR</a:t>
                      </a:r>
                    </a:p>
                  </a:txBody>
                  <a:tcPr marL="76200" marR="76200" marT="47625" marB="47625" anchor="ctr"/>
                </a:tc>
                <a:tc>
                  <a:txBody>
                    <a:bodyPr/>
                    <a:lstStyle/>
                    <a:p>
                      <a:r>
                        <a:rPr sz="1125">
                          <a:solidFill>
                            <a:srgbClr val="212121"/>
                          </a:solidFill>
                          <a:latin typeface="Arial"/>
                          <a:ea typeface="Arial"/>
                          <a:cs typeface="Arial"/>
                        </a:rPr>
                        <a:t>2.3408</a:t>
                      </a:r>
                    </a:p>
                  </a:txBody>
                  <a:tcPr marL="76200" marR="76200" marT="47625" marB="47625" anchor="ctr"/>
                </a:tc>
                <a:tc>
                  <a:txBody>
                    <a:bodyPr/>
                    <a:lstStyle/>
                    <a:p>
                      <a:r>
                        <a:rPr sz="1125">
                          <a:solidFill>
                            <a:srgbClr val="212121"/>
                          </a:solidFill>
                          <a:latin typeface="Arial"/>
                          <a:ea typeface="Arial"/>
                          <a:cs typeface="Arial"/>
                        </a:rPr>
                        <a:t>17.7843</a:t>
                      </a:r>
                    </a:p>
                  </a:txBody>
                  <a:tcPr marL="76200" marR="76200" marT="47625" marB="47625" anchor="ctr"/>
                </a:tc>
                <a:tc>
                  <a:txBody>
                    <a:bodyPr/>
                    <a:lstStyle/>
                    <a:p>
                      <a:r>
                        <a:rPr sz="1125">
                          <a:solidFill>
                            <a:srgbClr val="212121"/>
                          </a:solidFill>
                          <a:latin typeface="Arial"/>
                          <a:ea typeface="Arial"/>
                          <a:cs typeface="Arial"/>
                        </a:rPr>
                        <a:t>17.8229</a:t>
                      </a:r>
                    </a:p>
                  </a:txBody>
                  <a:tcPr marL="76200" marR="76200" marT="47625" marB="47625" anchor="ctr"/>
                </a:tc>
                <a:extLst>
                  <a:ext uri="{0D108BD9-81ED-4DB2-BD59-A6C34878D82A}">
                    <a16:rowId xmlns:a16="http://schemas.microsoft.com/office/drawing/2014/main" val="10002"/>
                  </a:ext>
                </a:extLst>
              </a:tr>
              <a:tr h="430530">
                <a:tc>
                  <a:txBody>
                    <a:bodyPr/>
                    <a:lstStyle/>
                    <a:p>
                      <a:r>
                        <a:rPr sz="1125" b="1">
                          <a:solidFill>
                            <a:srgbClr val="212121"/>
                          </a:solidFill>
                          <a:latin typeface="Arial"/>
                          <a:ea typeface="Arial"/>
                          <a:cs typeface="Arial"/>
                        </a:rPr>
                        <a:t>NN</a:t>
                      </a:r>
                    </a:p>
                  </a:txBody>
                  <a:tcPr marL="76200" marR="76200" marT="47625" marB="47625" anchor="ctr"/>
                </a:tc>
                <a:tc>
                  <a:txBody>
                    <a:bodyPr/>
                    <a:lstStyle/>
                    <a:p>
                      <a:r>
                        <a:rPr sz="1200"/>
                        <a:t>15.5079</a:t>
                      </a:r>
                      <a:endParaRPr sz="1125">
                        <a:solidFill>
                          <a:srgbClr val="212121"/>
                        </a:solidFill>
                        <a:latin typeface="Arial"/>
                        <a:ea typeface="Arial"/>
                        <a:cs typeface="Arial"/>
                      </a:endParaRPr>
                    </a:p>
                  </a:txBody>
                  <a:tcPr marL="76200" marR="76200" marT="47625" marB="47625" anchor="ctr"/>
                </a:tc>
                <a:tc>
                  <a:txBody>
                    <a:bodyPr/>
                    <a:lstStyle/>
                    <a:p>
                      <a:r>
                        <a:rPr sz="1200"/>
                        <a:t>20.2779</a:t>
                      </a:r>
                      <a:endParaRPr sz="1125">
                        <a:solidFill>
                          <a:srgbClr val="212121"/>
                        </a:solidFill>
                        <a:latin typeface="Arial"/>
                        <a:ea typeface="Arial"/>
                        <a:cs typeface="Arial"/>
                      </a:endParaRPr>
                    </a:p>
                  </a:txBody>
                  <a:tcPr marL="76200" marR="76200" marT="47625" marB="47625" anchor="ctr"/>
                </a:tc>
                <a:tc>
                  <a:txBody>
                    <a:bodyPr/>
                    <a:lstStyle/>
                    <a:p>
                      <a:r>
                        <a:rPr sz="1200"/>
                        <a:t>21.7458</a:t>
                      </a:r>
                      <a:endParaRPr sz="1125">
                        <a:solidFill>
                          <a:srgbClr val="212121"/>
                        </a:solidFill>
                        <a:latin typeface="Arial"/>
                        <a:ea typeface="Arial"/>
                        <a:cs typeface="Arial"/>
                      </a:endParaRPr>
                    </a:p>
                  </a:txBody>
                  <a:tcPr marL="76200" marR="76200" marT="47625" marB="47625" anchor="ctr"/>
                </a:tc>
                <a:extLst>
                  <a:ext uri="{0D108BD9-81ED-4DB2-BD59-A6C34878D82A}">
                    <a16:rowId xmlns:a16="http://schemas.microsoft.com/office/drawing/2014/main" val="10003"/>
                  </a:ext>
                </a:extLst>
              </a:tr>
              <a:tr h="430530">
                <a:tc>
                  <a:txBody>
                    <a:bodyPr/>
                    <a:lstStyle/>
                    <a:p>
                      <a:r>
                        <a:rPr sz="1125" b="1">
                          <a:solidFill>
                            <a:srgbClr val="174EA6"/>
                          </a:solidFill>
                          <a:latin typeface="Arial"/>
                          <a:ea typeface="Arial"/>
                          <a:cs typeface="Arial"/>
                        </a:rPr>
                        <a:t>Ensemble</a:t>
                      </a:r>
                    </a:p>
                  </a:txBody>
                  <a:tcPr marL="76200" marR="76200" marT="47625" marB="47625" anchor="ctr">
                    <a:solidFill>
                      <a:srgbClr val="E8F0FE"/>
                    </a:solidFill>
                  </a:tcPr>
                </a:tc>
                <a:tc>
                  <a:txBody>
                    <a:bodyPr/>
                    <a:lstStyle/>
                    <a:p>
                      <a:r>
                        <a:rPr sz="1125" b="1" i="0" u="none" cap="none">
                          <a:solidFill>
                            <a:srgbClr val="174EA6"/>
                          </a:solidFill>
                          <a:latin typeface="Arial"/>
                          <a:ea typeface="Arial"/>
                          <a:cs typeface="Arial"/>
                        </a:rPr>
                        <a:t>9.0248</a:t>
                      </a:r>
                    </a:p>
                  </a:txBody>
                  <a:tcPr marL="76200" marR="76200" marT="47625" marB="47625" anchor="ctr">
                    <a:solidFill>
                      <a:srgbClr val="E8F0FE"/>
                    </a:solidFill>
                  </a:tcPr>
                </a:tc>
                <a:tc>
                  <a:txBody>
                    <a:bodyPr/>
                    <a:lstStyle/>
                    <a:p>
                      <a:pPr marR="0" algn="l">
                        <a:lnSpc>
                          <a:spcPct val="100000"/>
                        </a:lnSpc>
                        <a:spcBef>
                          <a:spcPts val="0"/>
                        </a:spcBef>
                        <a:spcAft>
                          <a:spcPts val="0"/>
                        </a:spcAft>
                        <a:buClr>
                          <a:srgbClr val="000000"/>
                        </a:buClr>
                        <a:buFont typeface="Arial"/>
                        <a:buNone/>
                      </a:pPr>
                      <a:r>
                        <a:rPr sz="1125" b="1" i="0" u="none" cap="none">
                          <a:solidFill>
                            <a:srgbClr val="174EA6"/>
                          </a:solidFill>
                          <a:latin typeface="Arial"/>
                          <a:ea typeface="Arial"/>
                          <a:cs typeface="Arial"/>
                        </a:rPr>
                        <a:t>16.0993</a:t>
                      </a:r>
                    </a:p>
                  </a:txBody>
                  <a:tcPr marL="76200" marR="76200" marT="47625" marB="47625" anchor="ctr">
                    <a:solidFill>
                      <a:srgbClr val="E8F0FE"/>
                    </a:solidFill>
                  </a:tcPr>
                </a:tc>
                <a:tc>
                  <a:txBody>
                    <a:bodyPr/>
                    <a:lstStyle/>
                    <a:p>
                      <a:pPr marR="0" algn="l">
                        <a:lnSpc>
                          <a:spcPct val="100000"/>
                        </a:lnSpc>
                        <a:spcBef>
                          <a:spcPts val="0"/>
                        </a:spcBef>
                        <a:spcAft>
                          <a:spcPts val="0"/>
                        </a:spcAft>
                        <a:buClr>
                          <a:srgbClr val="000000"/>
                        </a:buClr>
                        <a:buFont typeface="Arial"/>
                        <a:buNone/>
                      </a:pPr>
                      <a:r>
                        <a:rPr sz="1125" b="1" i="0" u="none" cap="none">
                          <a:solidFill>
                            <a:srgbClr val="174EA6"/>
                          </a:solidFill>
                          <a:latin typeface="Arial"/>
                          <a:ea typeface="Arial"/>
                          <a:cs typeface="Arial"/>
                        </a:rPr>
                        <a:t>16.5450</a:t>
                      </a:r>
                    </a:p>
                  </a:txBody>
                  <a:tcPr marL="76200" marR="76200" marT="47625" marB="47625" anchor="ctr">
                    <a:solidFill>
                      <a:srgbClr val="E8F0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791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Google Shape;126;p22">
            <a:extLst>
              <a:ext uri="{FF2B5EF4-FFF2-40B4-BE49-F238E27FC236}">
                <a16:creationId xmlns:a16="http://schemas.microsoft.com/office/drawing/2014/main" id="{5783431F-637B-D6B7-3EE3-E706B4791EE9}"/>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marL="0" lvl="0" indent="0" algn="l">
              <a:lnSpc>
                <a:spcPct val="100000"/>
              </a:lnSpc>
              <a:spcBef>
                <a:spcPts val="0"/>
              </a:spcBef>
              <a:spcAft>
                <a:spcPts val="0"/>
              </a:spcAft>
              <a:buSzPct val="111111"/>
              <a:buNone/>
            </a:pPr>
            <a:r>
              <a:t>Final model choice — frozen weighted ensemble</a:t>
            </a:r>
          </a:p>
        </p:txBody>
      </p:sp>
      <p:sp>
        <p:nvSpPr>
          <p:cNvPr id="127" name="Google Shape;127;p22">
            <a:extLst>
              <a:ext uri="{FF2B5EF4-FFF2-40B4-BE49-F238E27FC236}">
                <a16:creationId xmlns:a16="http://schemas.microsoft.com/office/drawing/2014/main" id="{81447E59-AF2E-A965-342E-9ED86E88517B}"/>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114300" indent="0">
              <a:buSzPct val="100000"/>
              <a:buNone/>
            </a:pPr>
            <a:r>
              <a:rPr sz="1400" b="1"/>
              <a:t>Final CUP predictor: weighted ensemble of KNN, RBF-SVR and NN.</a:t>
            </a:r>
          </a:p>
          <a:p>
            <a:pPr>
              <a:buSzPct val="100000"/>
              <a:buFont typeface="Wingdings"/>
              <a:buChar char="§"/>
            </a:pPr>
            <a:r>
              <a:rPr sz="1400"/>
              <a:t>Evidence: OOF MEE 16.0748 versus 16.3223 for KNN; internal-test MEE 16.6436 versus 16.8191.</a:t>
            </a:r>
          </a:p>
          <a:p>
            <a:pPr>
              <a:buSzPct val="100000"/>
              <a:buFont typeface="Wingdings"/>
              <a:buChar char="§"/>
            </a:pPr>
            <a:r>
              <a:rPr sz="1400"/>
              <a:t>Rationale: KNN is the strongest standalone model, while RBF-SVR and NN add complementary residual information.</a:t>
            </a:r>
          </a:p>
          <a:p>
            <a:pPr>
              <a:buSzPct val="100000"/>
              <a:buFont typeface="Wingdings"/>
              <a:buChar char="§"/>
            </a:pPr>
            <a:r>
              <a:rPr sz="1400"/>
              <a:t>Exclusion: LinearSVR was removed because of consistently weaker performance and considered as a model baseline.</a:t>
            </a:r>
          </a:p>
          <a:p>
            <a:pPr>
              <a:buSzPct val="100000"/>
              <a:buFont typeface="Wingdings"/>
              <a:buChar char="§"/>
            </a:pPr>
            <a:r>
              <a:rPr sz="1400"/>
              <a:t>Frozen OOF weights: KNN = 73.84%, RBF-SVR = 16.06%, and NN = 10.10%; the non-negative weights are constrained to sum to 100%.</a:t>
            </a:r>
          </a:p>
          <a:p>
            <a:pPr>
              <a:buSzPct val="100000"/>
              <a:buFont typeface="Wingdings"/>
              <a:buChar char="§"/>
            </a:pPr>
            <a:r>
              <a:rPr sz="1400"/>
              <a:t>Leakage control: components and OOF-derived weights were frozen before the single internal-test assessment and blind-test prediction.</a:t>
            </a:r>
          </a:p>
          <a:p>
            <a:pPr marL="114300" indent="0">
              <a:buSzPct val="100000"/>
              <a:buNone/>
            </a:pPr>
            <a:r>
              <a:rPr sz="1400" b="1"/>
              <a:t>Final training</a:t>
            </a:r>
            <a:r>
              <a:rPr sz="1400"/>
              <a:t>: after selection, every component was refitted on all 500 labelled examples and combined using the frozen weights.</a:t>
            </a:r>
          </a:p>
          <a:p>
            <a:pPr marL="114300" indent="0">
              <a:buSzPct val="100000"/>
              <a:buNone/>
            </a:pPr>
            <a:r>
              <a:rPr sz="1400" b="1"/>
              <a:t>Decision: </a:t>
            </a:r>
            <a:r>
              <a:rPr sz="1400"/>
              <a:t>the ensemble was selected because it delivered a consistent, independently confirmed improvement over the strongest standalone baseline.</a:t>
            </a:r>
          </a:p>
        </p:txBody>
      </p:sp>
      <p:sp>
        <p:nvSpPr>
          <p:cNvPr id="128" name="Google Shape;128;p22">
            <a:extLst>
              <a:ext uri="{FF2B5EF4-FFF2-40B4-BE49-F238E27FC236}">
                <a16:creationId xmlns:a16="http://schemas.microsoft.com/office/drawing/2014/main" id="{473F0F9F-2107-323C-C3B7-B0DF3403E278}"/>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CCF91274-D221-1BB4-3BF9-836E3AD31EBE}" type="slidenum">
              <a:t>19</a:t>
            </a:fld>
            <a:endParaRPr/>
          </a:p>
        </p:txBody>
      </p:sp>
    </p:spTree>
    <p:extLst>
      <p:ext uri="{BB962C8B-B14F-4D97-AF65-F5344CB8AC3E}">
        <p14:creationId xmlns:p14="http://schemas.microsoft.com/office/powerpoint/2010/main" val="212311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Google Shape;126;p22">
            <a:extLst>
              <a:ext uri="{FF2B5EF4-FFF2-40B4-BE49-F238E27FC236}">
                <a16:creationId xmlns:a16="http://schemas.microsoft.com/office/drawing/2014/main" id="{260FE436-9DEB-4C3E-8BA6-27721A697E13}"/>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p>
            <a:pPr marL="0" lvl="0" indent="0" algn="l">
              <a:lnSpc>
                <a:spcPct val="100000"/>
              </a:lnSpc>
              <a:spcBef>
                <a:spcPts val="0"/>
              </a:spcBef>
              <a:spcAft>
                <a:spcPts val="0"/>
              </a:spcAft>
              <a:buSzPct val="111111"/>
              <a:buNone/>
            </a:pPr>
            <a:r>
              <a:rPr sz="2500"/>
              <a:t>Ensemble Learning Curve</a:t>
            </a:r>
          </a:p>
        </p:txBody>
      </p:sp>
      <p:sp>
        <p:nvSpPr>
          <p:cNvPr id="127" name="Google Shape;127;p22">
            <a:extLst>
              <a:ext uri="{FF2B5EF4-FFF2-40B4-BE49-F238E27FC236}">
                <a16:creationId xmlns:a16="http://schemas.microsoft.com/office/drawing/2014/main" id="{D420ED0B-622A-46AD-8586-6CBD71AE9CB6}"/>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marL="9525" indent="0">
              <a:buNone/>
            </a:pPr>
            <a:r>
              <a:rPr sz="1400"/>
              <a:t>Since the final predictor is a weighted ensemble without an epoch-based training process, performance is analysed as a function of the training-set size. The persistent training–validation gap indicates some overfitting. Nevertheless, CV validation MEE steadily decreases and its variability narrows as more training examples become available suggesting that with a larger training set the gap might be reduced.</a:t>
            </a:r>
          </a:p>
        </p:txBody>
      </p:sp>
      <p:sp>
        <p:nvSpPr>
          <p:cNvPr id="128" name="Google Shape;128;p22">
            <a:extLst>
              <a:ext uri="{FF2B5EF4-FFF2-40B4-BE49-F238E27FC236}">
                <a16:creationId xmlns:a16="http://schemas.microsoft.com/office/drawing/2014/main" id="{9E360148-C186-4019-BD56-DE50EFDFA08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844E025A-983C-6D44-79C6-4612AACD43FC}" type="slidenum">
              <a:rPr/>
              <a:t>20</a:t>
            </a:fld>
            <a:endParaRPr/>
          </a:p>
        </p:txBody>
      </p:sp>
      <p:pic>
        <p:nvPicPr>
          <p:cNvPr id="133" name="Immagine 1"/>
          <p:cNvPicPr>
            <a:picLocks noChangeAspect="1"/>
          </p:cNvPicPr>
          <p:nvPr/>
        </p:nvPicPr>
        <p:blipFill>
          <a:blip r:embed="rId3"/>
          <a:stretch>
            <a:fillRect/>
          </a:stretch>
        </p:blipFill>
        <p:spPr>
          <a:xfrm>
            <a:off x="2021756" y="2080675"/>
            <a:ext cx="4502334" cy="2792586"/>
          </a:xfrm>
          <a:prstGeom prst="rect">
            <a:avLst/>
          </a:prstGeom>
        </p:spPr>
      </p:pic>
    </p:spTree>
    <p:extLst>
      <p:ext uri="{BB962C8B-B14F-4D97-AF65-F5344CB8AC3E}">
        <p14:creationId xmlns:p14="http://schemas.microsoft.com/office/powerpoint/2010/main" val="211940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Google Shape;126;p22">
            <a:extLst>
              <a:ext uri="{FF2B5EF4-FFF2-40B4-BE49-F238E27FC236}">
                <a16:creationId xmlns:a16="http://schemas.microsoft.com/office/drawing/2014/main" id="{5783431F-637B-D6B7-3EE3-E706B4791EE9}"/>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marL="0" lvl="0" indent="0" algn="l">
              <a:lnSpc>
                <a:spcPct val="100000"/>
              </a:lnSpc>
              <a:spcBef>
                <a:spcPts val="0"/>
              </a:spcBef>
              <a:spcAft>
                <a:spcPts val="0"/>
              </a:spcAft>
              <a:buSzPct val="111111"/>
              <a:buNone/>
            </a:pPr>
            <a:r>
              <a:t>Discussion — findings and limitations</a:t>
            </a:r>
          </a:p>
        </p:txBody>
      </p:sp>
      <p:sp>
        <p:nvSpPr>
          <p:cNvPr id="127" name="Google Shape;127;p22">
            <a:extLst>
              <a:ext uri="{FF2B5EF4-FFF2-40B4-BE49-F238E27FC236}">
                <a16:creationId xmlns:a16="http://schemas.microsoft.com/office/drawing/2014/main" id="{81447E59-AF2E-A965-342E-9ED86E88517B}"/>
              </a:ext>
            </a:extLst>
          </p:cNvPr>
          <p:cNvSpPr>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oAutofit/>
          </a:bodyPr>
          <a:lstStyle/>
          <a:p>
            <a:pPr>
              <a:buSzPct val="100000"/>
              <a:buFont typeface="Wingdings"/>
              <a:buChar char="§"/>
            </a:pPr>
            <a:r>
              <a:rPr sz="1400"/>
              <a:t>Weight initialization: the custom init_weights function was used to compare different initialization schemes. We forced initializing all weights to zero to experiment degenerated results in and unstable training behaviour. The final neural networks used Kaiming-uniform weight initialization, while biases were initialized to zero (see appendix for a concrete example).</a:t>
            </a:r>
          </a:p>
          <a:p>
            <a:pPr>
              <a:buSzPct val="100000"/>
              <a:buFont typeface="Wingdings"/>
              <a:buChar char="§"/>
            </a:pPr>
            <a:r>
              <a:rPr sz="1400"/>
              <a:t>Generalization gap: training MEE remains below CV validation MEE, indicating residual overfitting.</a:t>
            </a:r>
          </a:p>
          <a:p>
            <a:pPr>
              <a:buSzPct val="100000"/>
              <a:buFont typeface="Wingdings"/>
              <a:buChar char="§"/>
            </a:pPr>
            <a:r>
              <a:rPr sz="1400"/>
              <a:t>Learning curve: validation MEE falls as the training set grows, suggesting that additional labelled data could improve generalization.</a:t>
            </a:r>
          </a:p>
          <a:p>
            <a:pPr>
              <a:buSzPct val="100000"/>
              <a:buFont typeface="Wingdings"/>
              <a:buChar char="§"/>
            </a:pPr>
            <a:r>
              <a:rPr sz="1400"/>
              <a:t>Ensemble gain: improvement over KNN is modest—about 1.5% OOF and 1.0% on the internal test—but consistent.</a:t>
            </a:r>
          </a:p>
          <a:p>
            <a:pPr>
              <a:buSzPct val="100000"/>
              <a:buFont typeface="Wingdings"/>
              <a:buChar char="§"/>
            </a:pPr>
            <a:r>
              <a:rPr sz="1400"/>
              <a:t>Complementarity: lower-weight RBF-SVR and NN predictions help because their residuals differ from those of KNN.</a:t>
            </a:r>
          </a:p>
          <a:p>
            <a:pPr>
              <a:buSzPct val="100000"/>
              <a:buFont typeface="Wingdings"/>
              <a:buChar char="§"/>
            </a:pPr>
            <a:r>
              <a:rPr sz="1400"/>
              <a:t>Uncertainty: the internal test is a single held-out assessment, not a variance-free performance estimate.</a:t>
            </a:r>
          </a:p>
          <a:p>
            <a:pPr marL="114300" indent="0">
              <a:buSzPct val="100000"/>
              <a:buNone/>
            </a:pPr>
            <a:r>
              <a:rPr sz="1400"/>
              <a:t>Main limitations: limited data and a narrow performance margin. The ensemble provides a reproducible incremental improvement.</a:t>
            </a:r>
          </a:p>
        </p:txBody>
      </p:sp>
      <p:sp>
        <p:nvSpPr>
          <p:cNvPr id="128" name="Google Shape;128;p22">
            <a:extLst>
              <a:ext uri="{FF2B5EF4-FFF2-40B4-BE49-F238E27FC236}">
                <a16:creationId xmlns:a16="http://schemas.microsoft.com/office/drawing/2014/main" id="{473F0F9F-2107-323C-C3B7-B0DF3403E278}"/>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F6DF2BE2-2DFA-1C03-677D-BDC2260D6D92}" type="slidenum">
              <a:t>21</a:t>
            </a:fld>
            <a:endParaRPr/>
          </a:p>
        </p:txBody>
      </p:sp>
    </p:spTree>
    <p:extLst>
      <p:ext uri="{BB962C8B-B14F-4D97-AF65-F5344CB8AC3E}">
        <p14:creationId xmlns:p14="http://schemas.microsoft.com/office/powerpoint/2010/main" val="2123111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Google Shape;140;p24">
            <a:extLst>
              <a:ext uri="{FF2B5EF4-FFF2-40B4-BE49-F238E27FC236}">
                <a16:creationId xmlns:a16="http://schemas.microsoft.com/office/drawing/2014/main" id="{76249976-C6F9-30F2-386E-9A554EC0573D}"/>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fontScale="90000"/>
          </a:bodyPr>
          <a:lstStyle/>
          <a:p>
            <a:pPr lvl="0">
              <a:buSzPct val="111111"/>
              <a:buNone/>
            </a:pPr>
            <a:r>
              <a:t>Appendix — Uniform Weight Initialization</a:t>
            </a:r>
          </a:p>
        </p:txBody>
      </p:sp>
      <p:sp>
        <p:nvSpPr>
          <p:cNvPr id="141" name="Google Shape;141;p24">
            <a:extLst>
              <a:ext uri="{FF2B5EF4-FFF2-40B4-BE49-F238E27FC236}">
                <a16:creationId xmlns:a16="http://schemas.microsoft.com/office/drawing/2014/main" id="{11AA2484-DC06-760D-1DBA-3E12FA370BF4}"/>
              </a:ext>
            </a:extLst>
          </p:cNvPr>
          <p:cNvSpPr>
            <a:spLocks noGrp="1"/>
          </p:cNvSpPr>
          <p:nvPr>
            <p:ph type="body" idx="1"/>
          </p:nvPr>
        </p:nvSpPr>
        <p:spPr>
          <a:xfrm>
            <a:off x="311700" y="1152475"/>
            <a:ext cx="8435108" cy="3416400"/>
          </a:xfrm>
          <a:prstGeom prst="rect">
            <a:avLst/>
          </a:prstGeom>
          <a:noFill/>
          <a:ln>
            <a:noFill/>
          </a:ln>
        </p:spPr>
        <p:txBody>
          <a:bodyPr spcFirstLastPara="1" wrap="square" lIns="91425" tIns="91425" rIns="91425" bIns="91425" anchor="t">
            <a:normAutofit/>
          </a:bodyPr>
          <a:lstStyle/>
          <a:p>
            <a:pPr marL="142875" indent="-28575">
              <a:spcAft>
                <a:spcPts val="10"/>
              </a:spcAft>
              <a:buNone/>
              <a:defRPr sz="1350"/>
            </a:pPr>
            <a:r>
              <a:rPr sz="1600"/>
              <a:t>Uniform zero-weight (or constant-weight) initialization causes the network to learn nearly identical representations. Below the learning curve and the gradient norm resulting from a run on MONK-1 with all weight set to zero.</a:t>
            </a:r>
            <a:endParaRPr sz="1600">
              <a:solidFill>
                <a:srgbClr val="595959"/>
              </a:solidFill>
              <a:latin typeface="Arial"/>
              <a:ea typeface="Arial"/>
              <a:cs typeface="Arial"/>
            </a:endParaRPr>
          </a:p>
        </p:txBody>
      </p:sp>
      <p:sp>
        <p:nvSpPr>
          <p:cNvPr id="142" name="Google Shape;142;p24">
            <a:extLst>
              <a:ext uri="{FF2B5EF4-FFF2-40B4-BE49-F238E27FC236}">
                <a16:creationId xmlns:a16="http://schemas.microsoft.com/office/drawing/2014/main" id="{FE6717A9-3718-476D-CA58-8EDF4B9C5506}"/>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p>
            <a:pPr marL="0" lvl="0" indent="0" algn="r">
              <a:lnSpc>
                <a:spcPct val="100000"/>
              </a:lnSpc>
              <a:spcBef>
                <a:spcPts val="0"/>
              </a:spcBef>
              <a:spcAft>
                <a:spcPts val="0"/>
              </a:spcAft>
              <a:buSzPts val="1000"/>
              <a:buNone/>
            </a:pPr>
            <a:fld id="{0BB18BA8-60F4-C50D-CD9B-1BB87D3E8506}" type="slidenum">
              <a:t>22</a:t>
            </a:fld>
            <a:endParaRPr/>
          </a:p>
        </p:txBody>
      </p:sp>
      <p:pic>
        <p:nvPicPr>
          <p:cNvPr id="148" name="Immagine 1"/>
          <p:cNvPicPr>
            <a:picLocks noChangeAspect="1"/>
          </p:cNvPicPr>
          <p:nvPr/>
        </p:nvPicPr>
        <p:blipFill>
          <a:blip r:embed="rId3"/>
          <a:stretch>
            <a:fillRect/>
          </a:stretch>
        </p:blipFill>
        <p:spPr>
          <a:xfrm>
            <a:off x="397192" y="2110417"/>
            <a:ext cx="3949700" cy="2946400"/>
          </a:xfrm>
          <a:prstGeom prst="rect">
            <a:avLst/>
          </a:prstGeom>
        </p:spPr>
      </p:pic>
      <p:pic>
        <p:nvPicPr>
          <p:cNvPr id="149" name="Immagine 2"/>
          <p:cNvPicPr>
            <a:picLocks noChangeAspect="1"/>
          </p:cNvPicPr>
          <p:nvPr/>
        </p:nvPicPr>
        <p:blipFill>
          <a:blip r:embed="rId4"/>
          <a:stretch>
            <a:fillRect/>
          </a:stretch>
        </p:blipFill>
        <p:spPr>
          <a:xfrm>
            <a:off x="4703352" y="2110417"/>
            <a:ext cx="3949700" cy="2946400"/>
          </a:xfrm>
          <a:prstGeom prst="rect">
            <a:avLst/>
          </a:prstGeom>
        </p:spPr>
      </p:pic>
    </p:spTree>
    <p:extLst>
      <p:ext uri="{BB962C8B-B14F-4D97-AF65-F5344CB8AC3E}">
        <p14:creationId xmlns:p14="http://schemas.microsoft.com/office/powerpoint/2010/main" val="290817071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4090</Words>
  <Application>Microsoft Macintosh PowerPoint</Application>
  <DocSecurity>0</DocSecurity>
  <PresentationFormat>Presentazione su schermo (16:9)</PresentationFormat>
  <Paragraphs>389</Paragraphs>
  <Slides>22</Slides>
  <Notes>22</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22</vt:i4>
      </vt:variant>
    </vt:vector>
  </HeadingPairs>
  <TitlesOfParts>
    <vt:vector size="26" baseType="lpstr">
      <vt:lpstr>Arial</vt:lpstr>
      <vt:lpstr>Font di sistema regolare</vt:lpstr>
      <vt:lpstr>Wingdings</vt:lpstr>
      <vt:lpstr>Simple Light</vt:lpstr>
      <vt:lpstr>ML 2025 Project</vt:lpstr>
      <vt:lpstr>Objectives</vt:lpstr>
      <vt:lpstr>Model selection — methodological overview</vt:lpstr>
      <vt:lpstr>Model selection — GridSearchCV methodology</vt:lpstr>
      <vt:lpstr>Model selection — Optuna methodology</vt:lpstr>
      <vt:lpstr>MONK KNN results and hyperparameters overview</vt:lpstr>
      <vt:lpstr>MONK SVM results and hyperparameters overview</vt:lpstr>
      <vt:lpstr>MONK NN results and hyperparameters overview</vt:lpstr>
      <vt:lpstr>MONK NN results (1/2)</vt:lpstr>
      <vt:lpstr>MONK NN results (2/2)</vt:lpstr>
      <vt:lpstr>CUP validation leakage controls</vt:lpstr>
      <vt:lpstr>CUP model-selection — search space definition</vt:lpstr>
      <vt:lpstr>CUP model-selection — Optuna sensitivity to training seed</vt:lpstr>
      <vt:lpstr>CUP model-selection — NN frozen-model assessment</vt:lpstr>
      <vt:lpstr>CUP model-selection — results and hyperparameters</vt:lpstr>
      <vt:lpstr>CUP model selection — complementary diagnostics</vt:lpstr>
      <vt:lpstr>CUP bootstrap stability — frozen individual models</vt:lpstr>
      <vt:lpstr>CUP Ensemble — Final MEE summary</vt:lpstr>
      <vt:lpstr>Final model choice — frozen weighted ensemble</vt:lpstr>
      <vt:lpstr>Ensemble Learning Curve</vt:lpstr>
      <vt:lpstr>Discussion — findings and limitations</vt:lpstr>
      <vt:lpstr>Appendix — Uniform Weight Initialization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Leonardo Celati</cp:lastModifiedBy>
  <cp:revision>1</cp:revision>
  <dcterms:created xsi:type="dcterms:W3CDTF">2026-08-20T06:20:17Z</dcterms:created>
  <dcterms:modified xsi:type="dcterms:W3CDTF">2026-08-20T08:41:58Z</dcterms:modified>
</cp:coreProperties>
</file>